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40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实验指导书：使用</a:t>
            </a:r>
            <a:r>
              <a:rPr dirty="0"/>
              <a:t> JMeter </a:t>
            </a:r>
            <a:r>
              <a:rPr dirty="0" err="1"/>
              <a:t>测试</a:t>
            </a:r>
            <a:r>
              <a:rPr dirty="0"/>
              <a:t> ASP.NET Core CRUD </a:t>
            </a:r>
            <a:r>
              <a:rPr dirty="0" err="1"/>
              <a:t>页面性能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1196" y="1685042"/>
            <a:ext cx="9854153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实验内容之一</a:t>
            </a:r>
            <a:r>
              <a:rPr dirty="0">
                <a:latin typeface="黑体" panose="02010609060101010101" pitchFamily="49" charset="-122"/>
                <a:ea typeface="黑体" panose="02010609060101010101" pitchFamily="49" charset="-122"/>
              </a:rPr>
              <a:t>：Web </a:t>
            </a:r>
            <a:r>
              <a:rPr dirty="0" err="1">
                <a:latin typeface="黑体" panose="02010609060101010101" pitchFamily="49" charset="-122"/>
                <a:ea typeface="黑体" panose="02010609060101010101" pitchFamily="49" charset="-122"/>
              </a:rPr>
              <a:t>应用开发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，实现对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张表的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CRUD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操作</a:t>
            </a:r>
            <a:endParaRPr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实验内容之一</a:t>
            </a:r>
            <a:r>
              <a:rPr dirty="0">
                <a:latin typeface="黑体" panose="02010609060101010101" pitchFamily="49" charset="-122"/>
                <a:ea typeface="黑体" panose="02010609060101010101" pitchFamily="49" charset="-122"/>
              </a:rPr>
              <a:t>：JMeter </a:t>
            </a:r>
            <a:r>
              <a:rPr dirty="0" err="1">
                <a:latin typeface="黑体" panose="02010609060101010101" pitchFamily="49" charset="-122"/>
                <a:ea typeface="黑体" panose="02010609060101010101" pitchFamily="49" charset="-122"/>
              </a:rPr>
              <a:t>并发性能测试</a:t>
            </a:r>
            <a:endParaRPr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dirty="0" err="1">
                <a:latin typeface="黑体" panose="02010609060101010101" pitchFamily="49" charset="-122"/>
                <a:ea typeface="黑体" panose="02010609060101010101" pitchFamily="49" charset="-122"/>
              </a:rPr>
              <a:t>示例页面</a:t>
            </a:r>
            <a:r>
              <a:rPr dirty="0">
                <a:latin typeface="黑体" panose="02010609060101010101" pitchFamily="49" charset="-122"/>
                <a:ea typeface="黑体" panose="02010609060101010101" pitchFamily="49" charset="-122"/>
              </a:rPr>
              <a:t>：/</a:t>
            </a:r>
            <a:r>
              <a:rPr dirty="0" err="1">
                <a:latin typeface="黑体" panose="02010609060101010101" pitchFamily="49" charset="-122"/>
                <a:ea typeface="黑体" panose="02010609060101010101" pitchFamily="49" charset="-122"/>
              </a:rPr>
              <a:t>StudentPage</a:t>
            </a:r>
            <a:r>
              <a:rPr lang="en-US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CRUD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一、实验目的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ea"/>
              <a:buAutoNum type="circleNumDbPlain"/>
            </a:pPr>
            <a:endParaRPr dirty="0"/>
          </a:p>
          <a:p>
            <a:pPr marL="971550" lvl="1" indent="-514350">
              <a:buFont typeface="+mj-ea"/>
              <a:buAutoNum type="circleNumDbPlain"/>
            </a:pPr>
            <a:r>
              <a:rPr dirty="0" err="1"/>
              <a:t>掌握</a:t>
            </a:r>
            <a:r>
              <a:rPr dirty="0"/>
              <a:t> JMeter </a:t>
            </a:r>
            <a:r>
              <a:rPr dirty="0" err="1"/>
              <a:t>基本使用方法</a:t>
            </a:r>
            <a:endParaRPr dirty="0"/>
          </a:p>
          <a:p>
            <a:pPr marL="971550" lvl="1" indent="-514350">
              <a:buFont typeface="+mj-ea"/>
              <a:buAutoNum type="circleNumDbPlain"/>
            </a:pPr>
            <a:r>
              <a:rPr dirty="0" err="1"/>
              <a:t>能够对</a:t>
            </a:r>
            <a:r>
              <a:rPr dirty="0"/>
              <a:t> ASP.NET Core CRUD </a:t>
            </a:r>
            <a:r>
              <a:rPr dirty="0" err="1"/>
              <a:t>页面执行并发测试</a:t>
            </a:r>
            <a:endParaRPr dirty="0"/>
          </a:p>
          <a:p>
            <a:pPr marL="971550" lvl="1" indent="-514350">
              <a:buFont typeface="+mj-ea"/>
              <a:buAutoNum type="circleNumDbPlain"/>
            </a:pPr>
            <a:r>
              <a:rPr dirty="0" err="1"/>
              <a:t>能够分析</a:t>
            </a:r>
            <a:r>
              <a:rPr dirty="0"/>
              <a:t> </a:t>
            </a:r>
            <a:r>
              <a:rPr dirty="0" err="1"/>
              <a:t>TPS、响应时间、错误率等指标</a:t>
            </a:r>
            <a:endParaRPr dirty="0"/>
          </a:p>
          <a:p>
            <a:pPr marL="971550" lvl="1" indent="-514350">
              <a:buFont typeface="+mj-ea"/>
              <a:buAutoNum type="circleNumDbPlain"/>
            </a:pPr>
            <a:r>
              <a:rPr dirty="0" err="1"/>
              <a:t>培养</a:t>
            </a:r>
            <a:r>
              <a:rPr dirty="0"/>
              <a:t> Web </a:t>
            </a:r>
            <a:r>
              <a:rPr dirty="0" err="1"/>
              <a:t>性能优化意识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二、实验环境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dirty="0"/>
          </a:p>
          <a:p>
            <a:pPr lvl="1">
              <a:buFont typeface="Wingdings" panose="05000000000000000000" pitchFamily="2" charset="2"/>
              <a:buChar char="ü"/>
            </a:pPr>
            <a:r>
              <a:rPr dirty="0" err="1"/>
              <a:t>操作系统：Windows</a:t>
            </a:r>
            <a:r>
              <a:rPr dirty="0"/>
              <a:t> 10/11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/>
              <a:t>ASP.NET Core 8 Web </a:t>
            </a:r>
            <a:r>
              <a:rPr dirty="0" err="1"/>
              <a:t>应用（Student</a:t>
            </a:r>
            <a:r>
              <a:rPr dirty="0"/>
              <a:t> CRUD）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 err="1"/>
              <a:t>浏览器可访问的</a:t>
            </a:r>
            <a:r>
              <a:rPr dirty="0"/>
              <a:t> URL: https://localhost:7202/StudentPage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 err="1"/>
              <a:t>安装</a:t>
            </a:r>
            <a:r>
              <a:rPr dirty="0"/>
              <a:t> JMeter 5.x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三、被测系统说明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dirty="0"/>
          </a:p>
          <a:p>
            <a:pPr lvl="1">
              <a:buFont typeface="Wingdings" panose="05000000000000000000" pitchFamily="2" charset="2"/>
              <a:buChar char="ü"/>
            </a:pPr>
            <a:r>
              <a:rPr dirty="0" err="1"/>
              <a:t>页面：StudentPage</a:t>
            </a:r>
            <a:r>
              <a:rPr dirty="0"/>
              <a:t> (Index)</a:t>
            </a:r>
            <a:r>
              <a:rPr lang="en-US" dirty="0"/>
              <a:t>&amp;</a:t>
            </a:r>
            <a:r>
              <a:rPr lang="en-US" altLang="zh-CN" dirty="0"/>
              <a:t>Create</a:t>
            </a:r>
            <a:endParaRPr dirty="0"/>
          </a:p>
          <a:p>
            <a:pPr lvl="1">
              <a:buFont typeface="Wingdings" panose="05000000000000000000" pitchFamily="2" charset="2"/>
              <a:buChar char="ü"/>
            </a:pPr>
            <a:r>
              <a:rPr dirty="0" err="1"/>
              <a:t>功能：展示</a:t>
            </a:r>
            <a:r>
              <a:rPr dirty="0"/>
              <a:t> Students </a:t>
            </a:r>
            <a:r>
              <a:rPr dirty="0" err="1"/>
              <a:t>列表</a:t>
            </a:r>
            <a:r>
              <a:rPr lang="en-US" dirty="0"/>
              <a:t>&amp;</a:t>
            </a:r>
            <a:r>
              <a:rPr lang="zh-CN" altLang="en-US" dirty="0"/>
              <a:t>添加新学生</a:t>
            </a:r>
            <a:endParaRPr dirty="0"/>
          </a:p>
          <a:p>
            <a:pPr lvl="1">
              <a:buFont typeface="Wingdings" panose="05000000000000000000" pitchFamily="2" charset="2"/>
              <a:buChar char="ü"/>
            </a:pPr>
            <a:r>
              <a:rPr dirty="0" err="1"/>
              <a:t>技术：Razor</a:t>
            </a:r>
            <a:r>
              <a:rPr dirty="0"/>
              <a:t> Pages + EF Core + SQL Server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 err="1"/>
              <a:t>测试重点：高并发访问</a:t>
            </a:r>
            <a:r>
              <a:rPr dirty="0"/>
              <a:t> Index </a:t>
            </a:r>
            <a:r>
              <a:rPr lang="zh-CN" altLang="en-US" dirty="0"/>
              <a:t>与</a:t>
            </a:r>
            <a:r>
              <a:rPr lang="en-US" altLang="zh-CN" dirty="0" err="1"/>
              <a:t>Create</a:t>
            </a:r>
            <a:r>
              <a:rPr dirty="0" err="1"/>
              <a:t>页的响应情况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四、JMeter 测试步骤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ea"/>
              <a:buAutoNum type="circleNumDbPlain"/>
            </a:pPr>
            <a:endParaRPr dirty="0"/>
          </a:p>
          <a:p>
            <a:pPr marL="971550" lvl="1" indent="-514350">
              <a:buFont typeface="+mj-ea"/>
              <a:buAutoNum type="circleNumDbPlain"/>
            </a:pPr>
            <a:r>
              <a:rPr dirty="0" err="1"/>
              <a:t>新建线程组</a:t>
            </a:r>
            <a:r>
              <a:rPr dirty="0"/>
              <a:t> Thread Group</a:t>
            </a:r>
          </a:p>
          <a:p>
            <a:pPr marL="971550" lvl="1" indent="-514350">
              <a:buFont typeface="+mj-ea"/>
              <a:buAutoNum type="circleNumDbPlain"/>
            </a:pPr>
            <a:r>
              <a:rPr dirty="0"/>
              <a:t> </a:t>
            </a:r>
            <a:r>
              <a:rPr dirty="0" err="1"/>
              <a:t>配置并发用户数</a:t>
            </a:r>
            <a:r>
              <a:rPr dirty="0"/>
              <a:t> Users</a:t>
            </a:r>
          </a:p>
          <a:p>
            <a:pPr marL="971550" lvl="1" indent="-514350">
              <a:buFont typeface="+mj-ea"/>
              <a:buAutoNum type="circleNumDbPlain"/>
            </a:pPr>
            <a:r>
              <a:rPr dirty="0" err="1"/>
              <a:t>添加</a:t>
            </a:r>
            <a:r>
              <a:rPr dirty="0"/>
              <a:t> HTTP </a:t>
            </a:r>
            <a:r>
              <a:rPr dirty="0" err="1"/>
              <a:t>请求</a:t>
            </a:r>
            <a:r>
              <a:rPr dirty="0"/>
              <a:t> → </a:t>
            </a:r>
            <a:r>
              <a:rPr dirty="0" err="1"/>
              <a:t>填写完整</a:t>
            </a:r>
            <a:r>
              <a:rPr dirty="0"/>
              <a:t> URL</a:t>
            </a:r>
          </a:p>
          <a:p>
            <a:pPr marL="971550" lvl="1" indent="-514350">
              <a:buFont typeface="+mj-ea"/>
              <a:buAutoNum type="circleNumDbPlain"/>
            </a:pPr>
            <a:r>
              <a:rPr dirty="0" err="1"/>
              <a:t>添加</a:t>
            </a:r>
            <a:r>
              <a:rPr dirty="0"/>
              <a:t> Summary Report / View Results Tree</a:t>
            </a:r>
          </a:p>
          <a:p>
            <a:pPr marL="971550" lvl="1" indent="-514350">
              <a:buFont typeface="+mj-ea"/>
              <a:buAutoNum type="circleNumDbPlain"/>
            </a:pPr>
            <a:r>
              <a:rPr dirty="0" err="1"/>
              <a:t>运行测试并观察性能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五、关键参数配置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515546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dirty="0"/>
          </a:p>
          <a:p>
            <a:pPr lvl="1">
              <a:buFont typeface="Wingdings" panose="05000000000000000000" pitchFamily="2" charset="2"/>
              <a:buChar char="ü"/>
            </a:pPr>
            <a:r>
              <a:rPr dirty="0"/>
              <a:t>Users（线程数）示例：</a:t>
            </a:r>
            <a:r>
              <a:rPr lang="en-US" dirty="0"/>
              <a:t>2</a:t>
            </a:r>
            <a:r>
              <a:rPr dirty="0"/>
              <a:t>00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dirty="0"/>
              <a:t>Ramp-Up Period：</a:t>
            </a:r>
            <a:r>
              <a:rPr lang="en-US" dirty="0"/>
              <a:t>3</a:t>
            </a:r>
            <a:r>
              <a:rPr dirty="0"/>
              <a:t> 秒</a:t>
            </a:r>
            <a:r>
              <a:rPr lang="en-US" dirty="0"/>
              <a:t>&amp;10</a:t>
            </a:r>
            <a:r>
              <a:rPr lang="zh-CN" altLang="en-US" dirty="0"/>
              <a:t>秒（用于对比分析）</a:t>
            </a:r>
            <a:endParaRPr dirty="0"/>
          </a:p>
          <a:p>
            <a:pPr lvl="1">
              <a:buFont typeface="Wingdings" panose="05000000000000000000" pitchFamily="2" charset="2"/>
              <a:buChar char="ü"/>
            </a:pPr>
            <a:r>
              <a:rPr dirty="0"/>
              <a:t>Loop Count：</a:t>
            </a:r>
            <a:r>
              <a:rPr lang="en-US" dirty="0"/>
              <a:t>2</a:t>
            </a:r>
            <a:endParaRPr dirty="0"/>
          </a:p>
          <a:p>
            <a:pPr lvl="1">
              <a:buFont typeface="Wingdings" panose="05000000000000000000" pitchFamily="2" charset="2"/>
              <a:buChar char="ü"/>
            </a:pPr>
            <a:r>
              <a:rPr dirty="0"/>
              <a:t>HTTP Request </a:t>
            </a:r>
            <a:r>
              <a:rPr dirty="0" err="1"/>
              <a:t>Method：GET</a:t>
            </a:r>
            <a:r>
              <a:rPr lang="en-US" dirty="0" err="1"/>
              <a:t>&amp;</a:t>
            </a:r>
            <a:r>
              <a:rPr lang="en-US" altLang="zh-CN" dirty="0" err="1"/>
              <a:t>Post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六、结果指标解读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ea"/>
              <a:buAutoNum type="circleNumDbPlain"/>
            </a:pPr>
            <a:endParaRPr dirty="0"/>
          </a:p>
          <a:p>
            <a:pPr marL="971550" lvl="1" indent="-514350">
              <a:buFont typeface="+mj-ea"/>
              <a:buAutoNum type="circleNumDbPlain"/>
            </a:pPr>
            <a:r>
              <a:rPr dirty="0" err="1"/>
              <a:t>Average（平均响应时间</a:t>
            </a:r>
            <a:r>
              <a:rPr dirty="0"/>
              <a:t>）</a:t>
            </a:r>
          </a:p>
          <a:p>
            <a:pPr marL="971550" lvl="1" indent="-514350">
              <a:buFont typeface="+mj-ea"/>
              <a:buAutoNum type="circleNumDbPlain"/>
            </a:pPr>
            <a:r>
              <a:rPr dirty="0"/>
              <a:t>Min / Max</a:t>
            </a:r>
          </a:p>
          <a:p>
            <a:pPr marL="971550" lvl="1" indent="-514350">
              <a:buFont typeface="+mj-ea"/>
              <a:buAutoNum type="circleNumDbPlain"/>
            </a:pPr>
            <a:r>
              <a:rPr dirty="0"/>
              <a:t>Error%（</a:t>
            </a:r>
            <a:r>
              <a:rPr dirty="0" err="1"/>
              <a:t>错误比例</a:t>
            </a:r>
            <a:r>
              <a:rPr dirty="0"/>
              <a:t>）</a:t>
            </a:r>
          </a:p>
          <a:p>
            <a:pPr marL="971550" lvl="1" indent="-514350">
              <a:buFont typeface="+mj-ea"/>
              <a:buAutoNum type="circleNumDbPlain"/>
            </a:pPr>
            <a:r>
              <a:rPr dirty="0" err="1"/>
              <a:t>Throughput（吞吐量</a:t>
            </a:r>
            <a:r>
              <a:rPr dirty="0"/>
              <a:t>）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其他相关指标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210</Words>
  <Application>Microsoft Office PowerPoint</Application>
  <PresentationFormat>宽屏</PresentationFormat>
  <Paragraphs>43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黑体</vt:lpstr>
      <vt:lpstr>Arial</vt:lpstr>
      <vt:lpstr>Calibri</vt:lpstr>
      <vt:lpstr>Wingdings</vt:lpstr>
      <vt:lpstr>Office Theme</vt:lpstr>
      <vt:lpstr>实验指导书：使用 JMeter 测试 ASP.NET Core CRUD 页面性能</vt:lpstr>
      <vt:lpstr>一、实验目的</vt:lpstr>
      <vt:lpstr>二、实验环境</vt:lpstr>
      <vt:lpstr>三、被测系统说明</vt:lpstr>
      <vt:lpstr>四、JMeter 测试步骤</vt:lpstr>
      <vt:lpstr>五、关键参数配置</vt:lpstr>
      <vt:lpstr>六、结果指标解读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明明 黄</cp:lastModifiedBy>
  <cp:revision>4</cp:revision>
  <dcterms:created xsi:type="dcterms:W3CDTF">2013-01-27T09:14:16Z</dcterms:created>
  <dcterms:modified xsi:type="dcterms:W3CDTF">2025-12-08T03:27:37Z</dcterms:modified>
  <cp:category/>
</cp:coreProperties>
</file>
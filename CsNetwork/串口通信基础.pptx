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emf" ContentType="image/x-emf"/>
  <Default Extension="png" ContentType="image/png"/>
  <Default Extension="jpeg" ContentType="image/jpeg"/>
  <Default Extension="JPG" ContentType="image/.jpg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7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70" r:id="rId12"/>
    <p:sldId id="269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6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36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notesMaster" Target="notesMasters/notesMaster1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0B87470-EC87-4106-8AE7-68FE204759C0}" type="doc">
      <dgm:prSet loTypeId="urn:microsoft.com/office/officeart/2005/8/layout/hierarchy2" loCatId="hierarchy" qsTypeId="urn:microsoft.com/office/officeart/2005/8/quickstyle/3d5" qsCatId="3D" csTypeId="urn:microsoft.com/office/officeart/2005/8/colors/colorful4" csCatId="colorful" phldr="1"/>
      <dgm:spPr/>
      <dgm:t>
        <a:bodyPr/>
        <a:lstStyle/>
        <a:p>
          <a:endParaRPr lang="zh-CN" altLang="en-US"/>
        </a:p>
      </dgm:t>
    </dgm:pt>
    <dgm:pt modelId="{EA8DD02F-D3A3-4441-85D9-45720CA97E30}">
      <dgm:prSet custT="1"/>
      <dgm:spPr/>
      <dgm:t>
        <a:bodyPr/>
        <a:lstStyle/>
        <a:p>
          <a:pPr rtl="0"/>
          <a:r>
            <a:rPr lang="zh-CN" altLang="en-US" sz="1800" b="1" smtClean="0">
              <a:latin typeface="黑体" panose="02010609060101010101" pitchFamily="49" charset="-122"/>
              <a:ea typeface="黑体" panose="02010609060101010101" pitchFamily="49" charset="-122"/>
            </a:rPr>
            <a:t>并行传输的缺点</a:t>
          </a:r>
          <a:endParaRPr lang="zh-CN" altLang="en-US" sz="1800" b="1">
            <a:latin typeface="黑体" panose="02010609060101010101" pitchFamily="49" charset="-122"/>
            <a:ea typeface="黑体" panose="02010609060101010101" pitchFamily="49" charset="-122"/>
          </a:endParaRPr>
        </a:p>
      </dgm:t>
    </dgm:pt>
    <dgm:pt modelId="{2357ABE9-5F14-4BE5-9F16-A5511FE3020C}" cxnId="{E68B2C8C-2AFC-497E-8B0E-6F247758A195}" type="parTrans">
      <dgm:prSet/>
      <dgm:spPr/>
      <dgm:t>
        <a:bodyPr/>
        <a:lstStyle/>
        <a:p>
          <a:endParaRPr lang="zh-CN" altLang="en-US" sz="1800" b="1">
            <a:latin typeface="黑体" panose="02010609060101010101" pitchFamily="49" charset="-122"/>
            <a:ea typeface="黑体" panose="02010609060101010101" pitchFamily="49" charset="-122"/>
          </a:endParaRPr>
        </a:p>
      </dgm:t>
    </dgm:pt>
    <dgm:pt modelId="{1B07FB9C-1CAD-400E-9D51-FCECBF2C9E62}" cxnId="{E68B2C8C-2AFC-497E-8B0E-6F247758A195}" type="sibTrans">
      <dgm:prSet/>
      <dgm:spPr/>
      <dgm:t>
        <a:bodyPr/>
        <a:lstStyle/>
        <a:p>
          <a:endParaRPr lang="zh-CN" altLang="en-US" sz="1800" b="1">
            <a:latin typeface="黑体" panose="02010609060101010101" pitchFamily="49" charset="-122"/>
            <a:ea typeface="黑体" panose="02010609060101010101" pitchFamily="49" charset="-122"/>
          </a:endParaRPr>
        </a:p>
      </dgm:t>
    </dgm:pt>
    <dgm:pt modelId="{A8911DFE-45D9-4C6B-99A6-6F0A99196D37}">
      <dgm:prSet custT="1"/>
      <dgm:spPr/>
      <dgm:t>
        <a:bodyPr/>
        <a:lstStyle/>
        <a:p>
          <a:pPr rtl="0"/>
          <a:r>
            <a:rPr lang="zh-CN" altLang="en-US" sz="1800" b="1" dirty="0" smtClean="0">
              <a:latin typeface="黑体" panose="02010609060101010101" pitchFamily="49" charset="-122"/>
              <a:ea typeface="黑体" panose="02010609060101010101" pitchFamily="49" charset="-122"/>
            </a:rPr>
            <a:t>长距离传输成本较高；</a:t>
          </a:r>
          <a:endParaRPr lang="zh-CN" altLang="en-US" sz="1800" b="1" dirty="0">
            <a:latin typeface="黑体" panose="02010609060101010101" pitchFamily="49" charset="-122"/>
            <a:ea typeface="黑体" panose="02010609060101010101" pitchFamily="49" charset="-122"/>
          </a:endParaRPr>
        </a:p>
      </dgm:t>
    </dgm:pt>
    <dgm:pt modelId="{27421C7F-0646-4CDD-ACBA-B675D6676D0F}" cxnId="{808DDE9B-A835-4C44-8861-97D81B86C04C}" type="parTrans">
      <dgm:prSet custT="1"/>
      <dgm:spPr/>
      <dgm:t>
        <a:bodyPr/>
        <a:lstStyle/>
        <a:p>
          <a:endParaRPr lang="zh-CN" altLang="en-US" sz="1800" b="1">
            <a:latin typeface="黑体" panose="02010609060101010101" pitchFamily="49" charset="-122"/>
            <a:ea typeface="黑体" panose="02010609060101010101" pitchFamily="49" charset="-122"/>
          </a:endParaRPr>
        </a:p>
      </dgm:t>
    </dgm:pt>
    <dgm:pt modelId="{140C2D4E-0198-4A90-9D0C-05337BDECF4B}" cxnId="{808DDE9B-A835-4C44-8861-97D81B86C04C}" type="sibTrans">
      <dgm:prSet/>
      <dgm:spPr/>
      <dgm:t>
        <a:bodyPr/>
        <a:lstStyle/>
        <a:p>
          <a:endParaRPr lang="zh-CN" altLang="en-US" sz="1800" b="1">
            <a:latin typeface="黑体" panose="02010609060101010101" pitchFamily="49" charset="-122"/>
            <a:ea typeface="黑体" panose="02010609060101010101" pitchFamily="49" charset="-122"/>
          </a:endParaRPr>
        </a:p>
      </dgm:t>
    </dgm:pt>
    <dgm:pt modelId="{5EFD4890-558D-460F-81BC-FA4D05FFC869}">
      <dgm:prSet custT="1"/>
      <dgm:spPr/>
      <dgm:t>
        <a:bodyPr/>
        <a:lstStyle/>
        <a:p>
          <a:pPr rtl="0"/>
          <a:r>
            <a:rPr lang="zh-CN" altLang="en-US" sz="1800" b="1" dirty="0" smtClean="0">
              <a:latin typeface="黑体" panose="02010609060101010101" pitchFamily="49" charset="-122"/>
              <a:ea typeface="黑体" panose="02010609060101010101" pitchFamily="49" charset="-122"/>
            </a:rPr>
            <a:t>信号线之间的干扰大，传输速率很难达到很高；</a:t>
          </a:r>
          <a:endParaRPr lang="zh-CN" altLang="en-US" sz="1800" b="1" dirty="0">
            <a:latin typeface="黑体" panose="02010609060101010101" pitchFamily="49" charset="-122"/>
            <a:ea typeface="黑体" panose="02010609060101010101" pitchFamily="49" charset="-122"/>
          </a:endParaRPr>
        </a:p>
      </dgm:t>
    </dgm:pt>
    <dgm:pt modelId="{F7D46A68-AC10-486E-8858-A22131D65401}" cxnId="{B1B2D163-C344-4A12-9195-61CBD2057604}" type="parTrans">
      <dgm:prSet custT="1"/>
      <dgm:spPr/>
      <dgm:t>
        <a:bodyPr/>
        <a:lstStyle/>
        <a:p>
          <a:endParaRPr lang="zh-CN" altLang="en-US" sz="1800" b="1">
            <a:latin typeface="黑体" panose="02010609060101010101" pitchFamily="49" charset="-122"/>
            <a:ea typeface="黑体" panose="02010609060101010101" pitchFamily="49" charset="-122"/>
          </a:endParaRPr>
        </a:p>
      </dgm:t>
    </dgm:pt>
    <dgm:pt modelId="{E95F3A67-BE6E-4930-A925-003994BBEA13}" cxnId="{B1B2D163-C344-4A12-9195-61CBD2057604}" type="sibTrans">
      <dgm:prSet/>
      <dgm:spPr/>
      <dgm:t>
        <a:bodyPr/>
        <a:lstStyle/>
        <a:p>
          <a:endParaRPr lang="zh-CN" altLang="en-US" sz="1800" b="1">
            <a:latin typeface="黑体" panose="02010609060101010101" pitchFamily="49" charset="-122"/>
            <a:ea typeface="黑体" panose="02010609060101010101" pitchFamily="49" charset="-122"/>
          </a:endParaRPr>
        </a:p>
      </dgm:t>
    </dgm:pt>
    <dgm:pt modelId="{11258ADD-3F49-47CE-B8D9-3A25D6885E79}">
      <dgm:prSet custT="1"/>
      <dgm:spPr/>
      <dgm:t>
        <a:bodyPr/>
        <a:lstStyle/>
        <a:p>
          <a:pPr rtl="0"/>
          <a:r>
            <a:rPr lang="zh-CN" altLang="en-US" sz="1800" b="1" dirty="0" smtClean="0">
              <a:latin typeface="黑体" panose="02010609060101010101" pitchFamily="49" charset="-122"/>
              <a:ea typeface="黑体" panose="02010609060101010101" pitchFamily="49" charset="-122"/>
            </a:rPr>
            <a:t>体积大，占用空间大，不利于设备的小型化、微型化。</a:t>
          </a:r>
          <a:endParaRPr lang="zh-CN" altLang="en-US" sz="1800" b="1" dirty="0">
            <a:latin typeface="黑体" panose="02010609060101010101" pitchFamily="49" charset="-122"/>
            <a:ea typeface="黑体" panose="02010609060101010101" pitchFamily="49" charset="-122"/>
          </a:endParaRPr>
        </a:p>
      </dgm:t>
    </dgm:pt>
    <dgm:pt modelId="{C65B1CEF-A112-4B61-97DE-168567DBCD45}" cxnId="{9E56FC2B-6DF7-4EF2-8329-10960DC7A596}" type="parTrans">
      <dgm:prSet custT="1"/>
      <dgm:spPr/>
      <dgm:t>
        <a:bodyPr/>
        <a:lstStyle/>
        <a:p>
          <a:endParaRPr lang="zh-CN" altLang="en-US" sz="1800" b="1">
            <a:latin typeface="黑体" panose="02010609060101010101" pitchFamily="49" charset="-122"/>
            <a:ea typeface="黑体" panose="02010609060101010101" pitchFamily="49" charset="-122"/>
          </a:endParaRPr>
        </a:p>
      </dgm:t>
    </dgm:pt>
    <dgm:pt modelId="{5F5D01F6-ABF3-464C-B7E8-257ED95225E9}" cxnId="{9E56FC2B-6DF7-4EF2-8329-10960DC7A596}" type="sibTrans">
      <dgm:prSet/>
      <dgm:spPr/>
      <dgm:t>
        <a:bodyPr/>
        <a:lstStyle/>
        <a:p>
          <a:endParaRPr lang="zh-CN" altLang="en-US" sz="1800" b="1">
            <a:latin typeface="黑体" panose="02010609060101010101" pitchFamily="49" charset="-122"/>
            <a:ea typeface="黑体" panose="02010609060101010101" pitchFamily="49" charset="-122"/>
          </a:endParaRPr>
        </a:p>
      </dgm:t>
    </dgm:pt>
    <dgm:pt modelId="{9CF6FB7E-3E09-4FE6-BD89-85DD8B9D235C}" type="pres">
      <dgm:prSet presAssocID="{50B87470-EC87-4106-8AE7-68FE204759C0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048592B2-AB97-4CE9-BC27-DE21649A6C4F}" type="pres">
      <dgm:prSet presAssocID="{EA8DD02F-D3A3-4441-85D9-45720CA97E30}" presName="root1" presStyleCnt="0"/>
      <dgm:spPr/>
    </dgm:pt>
    <dgm:pt modelId="{6B73087C-1BFE-4F80-B3EB-F98943D6F426}" type="pres">
      <dgm:prSet presAssocID="{EA8DD02F-D3A3-4441-85D9-45720CA97E30}" presName="LevelOneTextNode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31D98308-E8DF-4E12-A5B2-CF481E9F6665}" type="pres">
      <dgm:prSet presAssocID="{EA8DD02F-D3A3-4441-85D9-45720CA97E30}" presName="level2hierChild" presStyleCnt="0"/>
      <dgm:spPr/>
    </dgm:pt>
    <dgm:pt modelId="{486FD6BB-A0B2-4725-9729-5A5759CC9C0E}" type="pres">
      <dgm:prSet presAssocID="{27421C7F-0646-4CDD-ACBA-B675D6676D0F}" presName="conn2-1" presStyleLbl="parChTrans1D2" presStyleIdx="0" presStyleCnt="3"/>
      <dgm:spPr/>
      <dgm:t>
        <a:bodyPr/>
        <a:lstStyle/>
        <a:p>
          <a:endParaRPr lang="zh-CN" altLang="en-US"/>
        </a:p>
      </dgm:t>
    </dgm:pt>
    <dgm:pt modelId="{254E4872-E925-4DB9-8083-2966199D404A}" type="pres">
      <dgm:prSet presAssocID="{27421C7F-0646-4CDD-ACBA-B675D6676D0F}" presName="connTx" presStyleLbl="parChTrans1D2" presStyleIdx="0" presStyleCnt="3"/>
      <dgm:spPr/>
      <dgm:t>
        <a:bodyPr/>
        <a:lstStyle/>
        <a:p>
          <a:endParaRPr lang="zh-CN" altLang="en-US"/>
        </a:p>
      </dgm:t>
    </dgm:pt>
    <dgm:pt modelId="{8FD3C756-18BE-41F8-A20B-7B3ED4CE6A80}" type="pres">
      <dgm:prSet presAssocID="{A8911DFE-45D9-4C6B-99A6-6F0A99196D37}" presName="root2" presStyleCnt="0"/>
      <dgm:spPr/>
    </dgm:pt>
    <dgm:pt modelId="{944A8947-9F81-478F-9DCD-6EA37D003434}" type="pres">
      <dgm:prSet presAssocID="{A8911DFE-45D9-4C6B-99A6-6F0A99196D37}" presName="LevelTwoTextNode" presStyleLbl="node2" presStyleIdx="0" presStyleCnt="3" custScaleX="180336" custScaleY="145998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37CB6569-85E3-496E-9F52-6A2058CD6A9F}" type="pres">
      <dgm:prSet presAssocID="{A8911DFE-45D9-4C6B-99A6-6F0A99196D37}" presName="level3hierChild" presStyleCnt="0"/>
      <dgm:spPr/>
    </dgm:pt>
    <dgm:pt modelId="{921B2212-8C42-40E8-8EFF-F1E2EBAF9E26}" type="pres">
      <dgm:prSet presAssocID="{F7D46A68-AC10-486E-8858-A22131D65401}" presName="conn2-1" presStyleLbl="parChTrans1D2" presStyleIdx="1" presStyleCnt="3"/>
      <dgm:spPr/>
      <dgm:t>
        <a:bodyPr/>
        <a:lstStyle/>
        <a:p>
          <a:endParaRPr lang="zh-CN" altLang="en-US"/>
        </a:p>
      </dgm:t>
    </dgm:pt>
    <dgm:pt modelId="{4638F8A1-1142-4E0A-BF05-9067FF2A5BBC}" type="pres">
      <dgm:prSet presAssocID="{F7D46A68-AC10-486E-8858-A22131D65401}" presName="connTx" presStyleLbl="parChTrans1D2" presStyleIdx="1" presStyleCnt="3"/>
      <dgm:spPr/>
      <dgm:t>
        <a:bodyPr/>
        <a:lstStyle/>
        <a:p>
          <a:endParaRPr lang="zh-CN" altLang="en-US"/>
        </a:p>
      </dgm:t>
    </dgm:pt>
    <dgm:pt modelId="{7D9731E6-A14B-4A81-9DAB-98DC0079A05D}" type="pres">
      <dgm:prSet presAssocID="{5EFD4890-558D-460F-81BC-FA4D05FFC869}" presName="root2" presStyleCnt="0"/>
      <dgm:spPr/>
    </dgm:pt>
    <dgm:pt modelId="{39FDE088-4D6A-4A08-8979-6F5A75FB200D}" type="pres">
      <dgm:prSet presAssocID="{5EFD4890-558D-460F-81BC-FA4D05FFC869}" presName="LevelTwoTextNode" presStyleLbl="node2" presStyleIdx="1" presStyleCnt="3" custScaleX="180336" custScaleY="145998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DC5BE4CB-0EE8-4648-BE30-BCD040F710B7}" type="pres">
      <dgm:prSet presAssocID="{5EFD4890-558D-460F-81BC-FA4D05FFC869}" presName="level3hierChild" presStyleCnt="0"/>
      <dgm:spPr/>
    </dgm:pt>
    <dgm:pt modelId="{56A103CF-2452-4E89-8C65-9D8641FF1AB5}" type="pres">
      <dgm:prSet presAssocID="{C65B1CEF-A112-4B61-97DE-168567DBCD45}" presName="conn2-1" presStyleLbl="parChTrans1D2" presStyleIdx="2" presStyleCnt="3"/>
      <dgm:spPr/>
      <dgm:t>
        <a:bodyPr/>
        <a:lstStyle/>
        <a:p>
          <a:endParaRPr lang="zh-CN" altLang="en-US"/>
        </a:p>
      </dgm:t>
    </dgm:pt>
    <dgm:pt modelId="{CE92EE2E-3D8B-4929-9EFC-B90A1BDDDB53}" type="pres">
      <dgm:prSet presAssocID="{C65B1CEF-A112-4B61-97DE-168567DBCD45}" presName="connTx" presStyleLbl="parChTrans1D2" presStyleIdx="2" presStyleCnt="3"/>
      <dgm:spPr/>
      <dgm:t>
        <a:bodyPr/>
        <a:lstStyle/>
        <a:p>
          <a:endParaRPr lang="zh-CN" altLang="en-US"/>
        </a:p>
      </dgm:t>
    </dgm:pt>
    <dgm:pt modelId="{49434B38-73D7-4081-8C2F-B1EA0780BF1E}" type="pres">
      <dgm:prSet presAssocID="{11258ADD-3F49-47CE-B8D9-3A25D6885E79}" presName="root2" presStyleCnt="0"/>
      <dgm:spPr/>
    </dgm:pt>
    <dgm:pt modelId="{F4087009-3EA0-4CDA-9B25-2DB09224159F}" type="pres">
      <dgm:prSet presAssocID="{11258ADD-3F49-47CE-B8D9-3A25D6885E79}" presName="LevelTwoTextNode" presStyleLbl="node2" presStyleIdx="2" presStyleCnt="3" custScaleX="180336" custScaleY="145998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F87242AC-B2FC-4573-8942-EC0BA8FF0E57}" type="pres">
      <dgm:prSet presAssocID="{11258ADD-3F49-47CE-B8D9-3A25D6885E79}" presName="level3hierChild" presStyleCnt="0"/>
      <dgm:spPr/>
    </dgm:pt>
  </dgm:ptLst>
  <dgm:cxnLst>
    <dgm:cxn modelId="{E0179F30-C874-4C9A-AA25-CE6403E93803}" type="presOf" srcId="{27421C7F-0646-4CDD-ACBA-B675D6676D0F}" destId="{486FD6BB-A0B2-4725-9729-5A5759CC9C0E}" srcOrd="0" destOrd="0" presId="urn:microsoft.com/office/officeart/2005/8/layout/hierarchy2"/>
    <dgm:cxn modelId="{E68B2C8C-2AFC-497E-8B0E-6F247758A195}" srcId="{50B87470-EC87-4106-8AE7-68FE204759C0}" destId="{EA8DD02F-D3A3-4441-85D9-45720CA97E30}" srcOrd="0" destOrd="0" parTransId="{2357ABE9-5F14-4BE5-9F16-A5511FE3020C}" sibTransId="{1B07FB9C-1CAD-400E-9D51-FCECBF2C9E62}"/>
    <dgm:cxn modelId="{7D6C9D9F-C9DD-43A6-AC72-D318F4D6CDDA}" type="presOf" srcId="{F7D46A68-AC10-486E-8858-A22131D65401}" destId="{921B2212-8C42-40E8-8EFF-F1E2EBAF9E26}" srcOrd="0" destOrd="0" presId="urn:microsoft.com/office/officeart/2005/8/layout/hierarchy2"/>
    <dgm:cxn modelId="{51D2B640-C8F5-40C6-B4D3-7F14418AC7D5}" type="presOf" srcId="{F7D46A68-AC10-486E-8858-A22131D65401}" destId="{4638F8A1-1142-4E0A-BF05-9067FF2A5BBC}" srcOrd="1" destOrd="0" presId="urn:microsoft.com/office/officeart/2005/8/layout/hierarchy2"/>
    <dgm:cxn modelId="{808DDE9B-A835-4C44-8861-97D81B86C04C}" srcId="{EA8DD02F-D3A3-4441-85D9-45720CA97E30}" destId="{A8911DFE-45D9-4C6B-99A6-6F0A99196D37}" srcOrd="0" destOrd="0" parTransId="{27421C7F-0646-4CDD-ACBA-B675D6676D0F}" sibTransId="{140C2D4E-0198-4A90-9D0C-05337BDECF4B}"/>
    <dgm:cxn modelId="{9E56FC2B-6DF7-4EF2-8329-10960DC7A596}" srcId="{EA8DD02F-D3A3-4441-85D9-45720CA97E30}" destId="{11258ADD-3F49-47CE-B8D9-3A25D6885E79}" srcOrd="2" destOrd="0" parTransId="{C65B1CEF-A112-4B61-97DE-168567DBCD45}" sibTransId="{5F5D01F6-ABF3-464C-B7E8-257ED95225E9}"/>
    <dgm:cxn modelId="{DD737DF1-0FE0-49E9-B2B3-DB0E39FE99EC}" type="presOf" srcId="{27421C7F-0646-4CDD-ACBA-B675D6676D0F}" destId="{254E4872-E925-4DB9-8083-2966199D404A}" srcOrd="1" destOrd="0" presId="urn:microsoft.com/office/officeart/2005/8/layout/hierarchy2"/>
    <dgm:cxn modelId="{4CC80F20-E91E-4F31-AB89-C88E7EB63903}" type="presOf" srcId="{11258ADD-3F49-47CE-B8D9-3A25D6885E79}" destId="{F4087009-3EA0-4CDA-9B25-2DB09224159F}" srcOrd="0" destOrd="0" presId="urn:microsoft.com/office/officeart/2005/8/layout/hierarchy2"/>
    <dgm:cxn modelId="{42881429-B01E-40CC-89E0-95883C6B1995}" type="presOf" srcId="{A8911DFE-45D9-4C6B-99A6-6F0A99196D37}" destId="{944A8947-9F81-478F-9DCD-6EA37D003434}" srcOrd="0" destOrd="0" presId="urn:microsoft.com/office/officeart/2005/8/layout/hierarchy2"/>
    <dgm:cxn modelId="{8AFD9D5B-F81A-4EE3-AF22-A5770B70DB52}" type="presOf" srcId="{C65B1CEF-A112-4B61-97DE-168567DBCD45}" destId="{CE92EE2E-3D8B-4929-9EFC-B90A1BDDDB53}" srcOrd="1" destOrd="0" presId="urn:microsoft.com/office/officeart/2005/8/layout/hierarchy2"/>
    <dgm:cxn modelId="{28872F17-2141-4703-8F6E-1CE834276D56}" type="presOf" srcId="{50B87470-EC87-4106-8AE7-68FE204759C0}" destId="{9CF6FB7E-3E09-4FE6-BD89-85DD8B9D235C}" srcOrd="0" destOrd="0" presId="urn:microsoft.com/office/officeart/2005/8/layout/hierarchy2"/>
    <dgm:cxn modelId="{94505196-17D3-49EC-9E91-DBB9B80E9312}" type="presOf" srcId="{EA8DD02F-D3A3-4441-85D9-45720CA97E30}" destId="{6B73087C-1BFE-4F80-B3EB-F98943D6F426}" srcOrd="0" destOrd="0" presId="urn:microsoft.com/office/officeart/2005/8/layout/hierarchy2"/>
    <dgm:cxn modelId="{C1E915CA-B6EC-4746-8936-9E473C762D01}" type="presOf" srcId="{C65B1CEF-A112-4B61-97DE-168567DBCD45}" destId="{56A103CF-2452-4E89-8C65-9D8641FF1AB5}" srcOrd="0" destOrd="0" presId="urn:microsoft.com/office/officeart/2005/8/layout/hierarchy2"/>
    <dgm:cxn modelId="{B1B2D163-C344-4A12-9195-61CBD2057604}" srcId="{EA8DD02F-D3A3-4441-85D9-45720CA97E30}" destId="{5EFD4890-558D-460F-81BC-FA4D05FFC869}" srcOrd="1" destOrd="0" parTransId="{F7D46A68-AC10-486E-8858-A22131D65401}" sibTransId="{E95F3A67-BE6E-4930-A925-003994BBEA13}"/>
    <dgm:cxn modelId="{9570C699-9C12-423D-B717-689336ADB38E}" type="presOf" srcId="{5EFD4890-558D-460F-81BC-FA4D05FFC869}" destId="{39FDE088-4D6A-4A08-8979-6F5A75FB200D}" srcOrd="0" destOrd="0" presId="urn:microsoft.com/office/officeart/2005/8/layout/hierarchy2"/>
    <dgm:cxn modelId="{7FC85D8F-2A26-4405-B335-07192A1E9B90}" type="presParOf" srcId="{9CF6FB7E-3E09-4FE6-BD89-85DD8B9D235C}" destId="{048592B2-AB97-4CE9-BC27-DE21649A6C4F}" srcOrd="0" destOrd="0" presId="urn:microsoft.com/office/officeart/2005/8/layout/hierarchy2"/>
    <dgm:cxn modelId="{90559597-5BD3-4266-9E56-D1439B3C19D0}" type="presParOf" srcId="{048592B2-AB97-4CE9-BC27-DE21649A6C4F}" destId="{6B73087C-1BFE-4F80-B3EB-F98943D6F426}" srcOrd="0" destOrd="0" presId="urn:microsoft.com/office/officeart/2005/8/layout/hierarchy2"/>
    <dgm:cxn modelId="{F37FAC37-BECB-425F-9D2E-5F745A4D5AA1}" type="presParOf" srcId="{048592B2-AB97-4CE9-BC27-DE21649A6C4F}" destId="{31D98308-E8DF-4E12-A5B2-CF481E9F6665}" srcOrd="1" destOrd="0" presId="urn:microsoft.com/office/officeart/2005/8/layout/hierarchy2"/>
    <dgm:cxn modelId="{9B053ACF-8DF6-4B07-A89E-09845635958C}" type="presParOf" srcId="{31D98308-E8DF-4E12-A5B2-CF481E9F6665}" destId="{486FD6BB-A0B2-4725-9729-5A5759CC9C0E}" srcOrd="0" destOrd="0" presId="urn:microsoft.com/office/officeart/2005/8/layout/hierarchy2"/>
    <dgm:cxn modelId="{28AE92EA-8687-45DD-A3E9-6AF885DAAF33}" type="presParOf" srcId="{486FD6BB-A0B2-4725-9729-5A5759CC9C0E}" destId="{254E4872-E925-4DB9-8083-2966199D404A}" srcOrd="0" destOrd="0" presId="urn:microsoft.com/office/officeart/2005/8/layout/hierarchy2"/>
    <dgm:cxn modelId="{B6DCE93C-B78B-482F-9CEC-C6FEA6A4E871}" type="presParOf" srcId="{31D98308-E8DF-4E12-A5B2-CF481E9F6665}" destId="{8FD3C756-18BE-41F8-A20B-7B3ED4CE6A80}" srcOrd="1" destOrd="0" presId="urn:microsoft.com/office/officeart/2005/8/layout/hierarchy2"/>
    <dgm:cxn modelId="{26116B09-0164-4DCB-85EC-3D4A6CE42D71}" type="presParOf" srcId="{8FD3C756-18BE-41F8-A20B-7B3ED4CE6A80}" destId="{944A8947-9F81-478F-9DCD-6EA37D003434}" srcOrd="0" destOrd="0" presId="urn:microsoft.com/office/officeart/2005/8/layout/hierarchy2"/>
    <dgm:cxn modelId="{DC949E67-1524-4B5E-830A-BA132206CC14}" type="presParOf" srcId="{8FD3C756-18BE-41F8-A20B-7B3ED4CE6A80}" destId="{37CB6569-85E3-496E-9F52-6A2058CD6A9F}" srcOrd="1" destOrd="0" presId="urn:microsoft.com/office/officeart/2005/8/layout/hierarchy2"/>
    <dgm:cxn modelId="{F3E7F382-5706-4C0E-9154-68AE458DE047}" type="presParOf" srcId="{31D98308-E8DF-4E12-A5B2-CF481E9F6665}" destId="{921B2212-8C42-40E8-8EFF-F1E2EBAF9E26}" srcOrd="2" destOrd="0" presId="urn:microsoft.com/office/officeart/2005/8/layout/hierarchy2"/>
    <dgm:cxn modelId="{01856944-EBFA-4731-8319-F1B98A6B3F2F}" type="presParOf" srcId="{921B2212-8C42-40E8-8EFF-F1E2EBAF9E26}" destId="{4638F8A1-1142-4E0A-BF05-9067FF2A5BBC}" srcOrd="0" destOrd="0" presId="urn:microsoft.com/office/officeart/2005/8/layout/hierarchy2"/>
    <dgm:cxn modelId="{B1671309-C11B-461A-8E72-09FA960391BD}" type="presParOf" srcId="{31D98308-E8DF-4E12-A5B2-CF481E9F6665}" destId="{7D9731E6-A14B-4A81-9DAB-98DC0079A05D}" srcOrd="3" destOrd="0" presId="urn:microsoft.com/office/officeart/2005/8/layout/hierarchy2"/>
    <dgm:cxn modelId="{6482BEE4-C495-463B-A32B-BDD44B860172}" type="presParOf" srcId="{7D9731E6-A14B-4A81-9DAB-98DC0079A05D}" destId="{39FDE088-4D6A-4A08-8979-6F5A75FB200D}" srcOrd="0" destOrd="0" presId="urn:microsoft.com/office/officeart/2005/8/layout/hierarchy2"/>
    <dgm:cxn modelId="{F6608967-7FCC-4E91-9190-7F82767C34E6}" type="presParOf" srcId="{7D9731E6-A14B-4A81-9DAB-98DC0079A05D}" destId="{DC5BE4CB-0EE8-4648-BE30-BCD040F710B7}" srcOrd="1" destOrd="0" presId="urn:microsoft.com/office/officeart/2005/8/layout/hierarchy2"/>
    <dgm:cxn modelId="{B2C1DEFC-AB83-4EA5-8996-1EC349E32F66}" type="presParOf" srcId="{31D98308-E8DF-4E12-A5B2-CF481E9F6665}" destId="{56A103CF-2452-4E89-8C65-9D8641FF1AB5}" srcOrd="4" destOrd="0" presId="urn:microsoft.com/office/officeart/2005/8/layout/hierarchy2"/>
    <dgm:cxn modelId="{C5F938CF-7CC1-401C-8CC8-EC96386B887E}" type="presParOf" srcId="{56A103CF-2452-4E89-8C65-9D8641FF1AB5}" destId="{CE92EE2E-3D8B-4929-9EFC-B90A1BDDDB53}" srcOrd="0" destOrd="0" presId="urn:microsoft.com/office/officeart/2005/8/layout/hierarchy2"/>
    <dgm:cxn modelId="{919DFB04-08FD-4D66-841C-04672449C383}" type="presParOf" srcId="{31D98308-E8DF-4E12-A5B2-CF481E9F6665}" destId="{49434B38-73D7-4081-8C2F-B1EA0780BF1E}" srcOrd="5" destOrd="0" presId="urn:microsoft.com/office/officeart/2005/8/layout/hierarchy2"/>
    <dgm:cxn modelId="{ECDB919C-D137-4524-93E4-DEAACB2C691D}" type="presParOf" srcId="{49434B38-73D7-4081-8C2F-B1EA0780BF1E}" destId="{F4087009-3EA0-4CDA-9B25-2DB09224159F}" srcOrd="0" destOrd="0" presId="urn:microsoft.com/office/officeart/2005/8/layout/hierarchy2"/>
    <dgm:cxn modelId="{B5DE372C-17E7-478B-A9E8-572CFECB0C6D}" type="presParOf" srcId="{49434B38-73D7-4081-8C2F-B1EA0780BF1E}" destId="{F87242AC-B2FC-4573-8942-EC0BA8FF0E57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6094100" cy="4032447"/>
        <a:chOff x="0" y="0"/>
        <a:chExt cx="6094100" cy="4032447"/>
      </a:xfrm>
      <a:scene3d>
        <a:camera prst="isometricOffAxis2Left" zoom="95000"/>
        <a:lightRig rig="flat" dir="t"/>
      </a:scene3d>
    </dsp:grpSpPr>
    <dsp:sp modelId="{6B73087C-1BFE-4F80-B3EB-F98943D6F426}">
      <dsp:nvSpPr>
        <dsp:cNvPr id="3" name="圆角矩形 2"/>
        <dsp:cNvSpPr/>
      </dsp:nvSpPr>
      <dsp:spPr bwMode="white">
        <a:xfrm>
          <a:off x="286891" y="1585401"/>
          <a:ext cx="1723290" cy="861645"/>
        </a:xfrm>
        <a:prstGeom prst="roundRect">
          <a:avLst>
            <a:gd name="adj" fmla="val 10000"/>
          </a:avLst>
        </a:prstGeom>
        <a:sp3d extrusionH="381000" contourW="38100" prstMaterial="matte">
          <a:contourClr>
            <a:schemeClr val="lt1"/>
          </a:contourClr>
        </a:sp3d>
      </dsp:spPr>
      <dsp:style>
        <a:lnRef idx="0">
          <a:schemeClr val="lt1"/>
        </a:lnRef>
        <a:fillRef idx="1">
          <a:schemeClr val="accent3"/>
        </a:fillRef>
        <a:effectRef idx="0">
          <a:scrgbClr r="0" g="0" b="0"/>
        </a:effectRef>
        <a:fontRef idx="minor">
          <a:schemeClr val="lt1"/>
        </a:fontRef>
      </dsp:style>
      <dsp:txBody>
        <a:bodyPr lIns="11430" tIns="11430" rIns="11430" bIns="1143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 rt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800" b="1" smtClean="0">
              <a:latin typeface="黑体" panose="02010609060101010101" pitchFamily="49" charset="-122"/>
              <a:ea typeface="黑体" panose="02010609060101010101" pitchFamily="49" charset="-122"/>
            </a:rPr>
            <a:t>并行传输的缺点</a:t>
          </a:r>
          <a:endParaRPr lang="zh-CN" altLang="en-US" sz="1800" b="1">
            <a:latin typeface="黑体" panose="02010609060101010101" pitchFamily="49" charset="-122"/>
            <a:ea typeface="黑体" panose="02010609060101010101" pitchFamily="49" charset="-122"/>
          </a:endParaRPr>
        </a:p>
      </dsp:txBody>
      <dsp:txXfrm>
        <a:off x="286891" y="1585401"/>
        <a:ext cx="1723290" cy="861645"/>
      </dsp:txXfrm>
    </dsp:sp>
    <dsp:sp modelId="{486FD6BB-A0B2-4725-9729-5A5759CC9C0E}">
      <dsp:nvSpPr>
        <dsp:cNvPr id="4" name="任意多边形 3"/>
        <dsp:cNvSpPr/>
      </dsp:nvSpPr>
      <dsp:spPr bwMode="white">
        <a:xfrm>
          <a:off x="1580312" y="1303377"/>
          <a:ext cx="1549054" cy="38462"/>
        </a:xfrm>
        <a:custGeom>
          <a:avLst/>
          <a:gdLst/>
          <a:ahLst/>
          <a:cxnLst/>
          <a:pathLst>
            <a:path w="2439" h="61">
              <a:moveTo>
                <a:pt x="677" y="1123"/>
              </a:moveTo>
              <a:lnTo>
                <a:pt x="1762" y="-1062"/>
              </a:lnTo>
            </a:path>
          </a:pathLst>
        </a:custGeom>
        <a:sp3d z="-40000" prstMaterial="matte"/>
      </dsp:spPr>
      <dsp:style>
        <a:lnRef idx="2">
          <a:schemeClr val="accent5"/>
        </a:lnRef>
        <a:fillRef idx="0">
          <a:schemeClr val="accent4">
            <a:tint val="90000"/>
          </a:schemeClr>
        </a:fillRef>
        <a:effectRef idx="0">
          <a:scrgbClr r="0" g="0" b="0"/>
        </a:effectRef>
        <a:fontRef idx="minor"/>
      </dsp:style>
      <dsp:txBody>
        <a:bodyPr anchor="ctr"/>
        <a:lstStyle>
          <a:lvl1pPr algn="ctr"/>
          <a:lvl2pPr algn="ctr"/>
          <a:lvl3pPr algn="ctr"/>
          <a:lvl4pPr algn="ctr"/>
          <a:lvl5pPr algn="ctr"/>
          <a:lvl6pPr algn="ctr"/>
          <a:lvl7pPr algn="ctr"/>
          <a:lvl8pPr algn="ctr"/>
          <a:lvl9pPr algn="ctr"/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 sz="1800" b="1">
            <a:solidFill>
              <a:schemeClr val="tx1"/>
            </a:solidFill>
            <a:latin typeface="黑体" panose="02010609060101010101" pitchFamily="49" charset="-122"/>
            <a:ea typeface="黑体" panose="02010609060101010101" pitchFamily="49" charset="-122"/>
          </a:endParaRPr>
        </a:p>
      </dsp:txBody>
      <dsp:txXfrm>
        <a:off x="1580312" y="1303377"/>
        <a:ext cx="1549054" cy="38462"/>
      </dsp:txXfrm>
    </dsp:sp>
    <dsp:sp modelId="{944A8947-9F81-478F-9DCD-6EA37D003434}">
      <dsp:nvSpPr>
        <dsp:cNvPr id="5" name="圆角矩形 4"/>
        <dsp:cNvSpPr/>
      </dsp:nvSpPr>
      <dsp:spPr bwMode="white">
        <a:xfrm>
          <a:off x="2699497" y="0"/>
          <a:ext cx="3107712" cy="1257984"/>
        </a:xfrm>
        <a:prstGeom prst="roundRect">
          <a:avLst>
            <a:gd name="adj" fmla="val 10000"/>
          </a:avLst>
        </a:prstGeom>
        <a:sp3d extrusionH="381000" contourW="38100" prstMaterial="matte">
          <a:contourClr>
            <a:schemeClr val="lt1"/>
          </a:contourClr>
        </a:sp3d>
      </dsp:spPr>
      <dsp:style>
        <a:lnRef idx="0">
          <a:schemeClr val="lt1"/>
        </a:lnRef>
        <a:fillRef idx="1">
          <a:schemeClr val="accent5">
            <a:hueOff val="0"/>
            <a:satOff val="0"/>
            <a:lumOff val="0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11430" tIns="11430" rIns="11430" bIns="1143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 rt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800" b="1" dirty="0" smtClean="0">
              <a:latin typeface="黑体" panose="02010609060101010101" pitchFamily="49" charset="-122"/>
              <a:ea typeface="黑体" panose="02010609060101010101" pitchFamily="49" charset="-122"/>
            </a:rPr>
            <a:t>长距离传输成本较高；</a:t>
          </a:r>
          <a:endParaRPr lang="zh-CN" altLang="en-US" sz="1800" b="1" dirty="0">
            <a:latin typeface="黑体" panose="02010609060101010101" pitchFamily="49" charset="-122"/>
            <a:ea typeface="黑体" panose="02010609060101010101" pitchFamily="49" charset="-122"/>
          </a:endParaRPr>
        </a:p>
      </dsp:txBody>
      <dsp:txXfrm>
        <a:off x="2699497" y="0"/>
        <a:ext cx="3107712" cy="1257984"/>
      </dsp:txXfrm>
    </dsp:sp>
    <dsp:sp modelId="{921B2212-8C42-40E8-8EFF-F1E2EBAF9E26}">
      <dsp:nvSpPr>
        <dsp:cNvPr id="6" name="任意多边形 5"/>
        <dsp:cNvSpPr/>
      </dsp:nvSpPr>
      <dsp:spPr bwMode="white">
        <a:xfrm>
          <a:off x="2010181" y="1996992"/>
          <a:ext cx="689316" cy="38462"/>
        </a:xfrm>
        <a:custGeom>
          <a:avLst/>
          <a:gdLst/>
          <a:ahLst/>
          <a:cxnLst/>
          <a:pathLst>
            <a:path w="1086" h="61">
              <a:moveTo>
                <a:pt x="0" y="30"/>
              </a:moveTo>
              <a:lnTo>
                <a:pt x="1086" y="30"/>
              </a:lnTo>
            </a:path>
          </a:pathLst>
        </a:custGeom>
        <a:sp3d z="-40000" prstMaterial="matte"/>
      </dsp:spPr>
      <dsp:style>
        <a:lnRef idx="2">
          <a:schemeClr val="accent5"/>
        </a:lnRef>
        <a:fillRef idx="0">
          <a:schemeClr val="accent4">
            <a:tint val="90000"/>
          </a:schemeClr>
        </a:fillRef>
        <a:effectRef idx="0">
          <a:scrgbClr r="0" g="0" b="0"/>
        </a:effectRef>
        <a:fontRef idx="minor"/>
      </dsp:style>
      <dsp:txBody>
        <a:bodyPr anchor="ctr"/>
        <a:lstStyle>
          <a:lvl1pPr algn="ctr"/>
          <a:lvl2pPr algn="ctr"/>
          <a:lvl3pPr algn="ctr"/>
          <a:lvl4pPr algn="ctr"/>
          <a:lvl5pPr algn="ctr"/>
          <a:lvl6pPr algn="ctr"/>
          <a:lvl7pPr algn="ctr"/>
          <a:lvl8pPr algn="ctr"/>
          <a:lvl9pPr algn="ctr"/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 sz="1800" b="1">
            <a:solidFill>
              <a:schemeClr val="tx1"/>
            </a:solidFill>
            <a:latin typeface="黑体" panose="02010609060101010101" pitchFamily="49" charset="-122"/>
            <a:ea typeface="黑体" panose="02010609060101010101" pitchFamily="49" charset="-122"/>
          </a:endParaRPr>
        </a:p>
      </dsp:txBody>
      <dsp:txXfrm>
        <a:off x="2010181" y="1996992"/>
        <a:ext cx="689316" cy="38462"/>
      </dsp:txXfrm>
    </dsp:sp>
    <dsp:sp modelId="{39FDE088-4D6A-4A08-8979-6F5A75FB200D}">
      <dsp:nvSpPr>
        <dsp:cNvPr id="7" name="圆角矩形 6"/>
        <dsp:cNvSpPr/>
      </dsp:nvSpPr>
      <dsp:spPr bwMode="white">
        <a:xfrm>
          <a:off x="2699497" y="1387231"/>
          <a:ext cx="3107712" cy="1257984"/>
        </a:xfrm>
        <a:prstGeom prst="roundRect">
          <a:avLst>
            <a:gd name="adj" fmla="val 10000"/>
          </a:avLst>
        </a:prstGeom>
        <a:sp3d extrusionH="381000" contourW="38100" prstMaterial="matte">
          <a:contourClr>
            <a:schemeClr val="lt1"/>
          </a:contourClr>
        </a:sp3d>
      </dsp:spPr>
      <dsp:style>
        <a:lnRef idx="0">
          <a:schemeClr val="lt1"/>
        </a:lnRef>
        <a:fillRef idx="1">
          <a:schemeClr val="accent5">
            <a:hueOff val="0"/>
            <a:satOff val="0"/>
            <a:lumOff val="0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11430" tIns="11430" rIns="11430" bIns="1143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 rt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800" b="1" dirty="0" smtClean="0">
              <a:latin typeface="黑体" panose="02010609060101010101" pitchFamily="49" charset="-122"/>
              <a:ea typeface="黑体" panose="02010609060101010101" pitchFamily="49" charset="-122"/>
            </a:rPr>
            <a:t>信号线之间的干扰大，传输速率很难达到很高；</a:t>
          </a:r>
          <a:endParaRPr lang="zh-CN" altLang="en-US" sz="1800" b="1" dirty="0">
            <a:latin typeface="黑体" panose="02010609060101010101" pitchFamily="49" charset="-122"/>
            <a:ea typeface="黑体" panose="02010609060101010101" pitchFamily="49" charset="-122"/>
          </a:endParaRPr>
        </a:p>
      </dsp:txBody>
      <dsp:txXfrm>
        <a:off x="2699497" y="1387231"/>
        <a:ext cx="3107712" cy="1257984"/>
      </dsp:txXfrm>
    </dsp:sp>
    <dsp:sp modelId="{56A103CF-2452-4E89-8C65-9D8641FF1AB5}">
      <dsp:nvSpPr>
        <dsp:cNvPr id="8" name="任意多边形 7"/>
        <dsp:cNvSpPr/>
      </dsp:nvSpPr>
      <dsp:spPr bwMode="white">
        <a:xfrm>
          <a:off x="1580312" y="2690608"/>
          <a:ext cx="1549054" cy="38462"/>
        </a:xfrm>
        <a:custGeom>
          <a:avLst/>
          <a:gdLst/>
          <a:ahLst/>
          <a:cxnLst/>
          <a:pathLst>
            <a:path w="2439" h="61">
              <a:moveTo>
                <a:pt x="677" y="-1062"/>
              </a:moveTo>
              <a:lnTo>
                <a:pt x="1762" y="1123"/>
              </a:lnTo>
            </a:path>
          </a:pathLst>
        </a:custGeom>
        <a:sp3d z="-40000" prstMaterial="matte"/>
      </dsp:spPr>
      <dsp:style>
        <a:lnRef idx="2">
          <a:schemeClr val="accent5"/>
        </a:lnRef>
        <a:fillRef idx="0">
          <a:schemeClr val="accent4">
            <a:tint val="90000"/>
          </a:schemeClr>
        </a:fillRef>
        <a:effectRef idx="0">
          <a:scrgbClr r="0" g="0" b="0"/>
        </a:effectRef>
        <a:fontRef idx="minor"/>
      </dsp:style>
      <dsp:txBody>
        <a:bodyPr anchor="ctr"/>
        <a:lstStyle>
          <a:lvl1pPr algn="ctr"/>
          <a:lvl2pPr algn="ctr"/>
          <a:lvl3pPr algn="ctr"/>
          <a:lvl4pPr algn="ctr"/>
          <a:lvl5pPr algn="ctr"/>
          <a:lvl6pPr algn="ctr"/>
          <a:lvl7pPr algn="ctr"/>
          <a:lvl8pPr algn="ctr"/>
          <a:lvl9pPr algn="ctr"/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 sz="1800" b="1">
            <a:solidFill>
              <a:schemeClr val="tx1"/>
            </a:solidFill>
            <a:latin typeface="黑体" panose="02010609060101010101" pitchFamily="49" charset="-122"/>
            <a:ea typeface="黑体" panose="02010609060101010101" pitchFamily="49" charset="-122"/>
          </a:endParaRPr>
        </a:p>
      </dsp:txBody>
      <dsp:txXfrm>
        <a:off x="1580312" y="2690608"/>
        <a:ext cx="1549054" cy="38462"/>
      </dsp:txXfrm>
    </dsp:sp>
    <dsp:sp modelId="{F4087009-3EA0-4CDA-9B25-2DB09224159F}">
      <dsp:nvSpPr>
        <dsp:cNvPr id="9" name="圆角矩形 8"/>
        <dsp:cNvSpPr/>
      </dsp:nvSpPr>
      <dsp:spPr bwMode="white">
        <a:xfrm>
          <a:off x="2699497" y="2774463"/>
          <a:ext cx="3107712" cy="1257984"/>
        </a:xfrm>
        <a:prstGeom prst="roundRect">
          <a:avLst>
            <a:gd name="adj" fmla="val 10000"/>
          </a:avLst>
        </a:prstGeom>
        <a:sp3d extrusionH="381000" contourW="38100" prstMaterial="matte">
          <a:contourClr>
            <a:schemeClr val="lt1"/>
          </a:contourClr>
        </a:sp3d>
      </dsp:spPr>
      <dsp:style>
        <a:lnRef idx="0">
          <a:schemeClr val="lt1"/>
        </a:lnRef>
        <a:fillRef idx="1">
          <a:schemeClr val="accent5">
            <a:hueOff val="0"/>
            <a:satOff val="0"/>
            <a:lumOff val="0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11430" tIns="11430" rIns="11430" bIns="1143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 rt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800" b="1" dirty="0" smtClean="0">
              <a:latin typeface="黑体" panose="02010609060101010101" pitchFamily="49" charset="-122"/>
              <a:ea typeface="黑体" panose="02010609060101010101" pitchFamily="49" charset="-122"/>
            </a:rPr>
            <a:t>体积大，占用空间大，不利于设备的小型化、微型化。</a:t>
          </a:r>
          <a:endParaRPr lang="zh-CN" altLang="en-US" sz="1800" b="1" dirty="0">
            <a:latin typeface="黑体" panose="02010609060101010101" pitchFamily="49" charset="-122"/>
            <a:ea typeface="黑体" panose="02010609060101010101" pitchFamily="49" charset="-122"/>
          </a:endParaRPr>
        </a:p>
      </dsp:txBody>
      <dsp:txXfrm>
        <a:off x="2699497" y="2774463"/>
        <a:ext cx="3107712" cy="125798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endSty" val="noArr"/>
                        <dgm:param type="begPts" val="midR"/>
                        <dgm:param type="endPts" val="midL"/>
                      </dgm:alg>
                    </dgm:if>
                    <dgm:else name="Name14">
                      <dgm:alg type="conn">
                        <dgm:param type="dim" val="1D"/>
                        <dgm:param type="endSty" val="noArr"/>
                        <dgm:param type="begPts" val="midL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5">
  <dgm:title val=""/>
  <dgm:desc val=""/>
  <dgm:catLst>
    <dgm:cat type="3D" pri="11500"/>
  </dgm:catLst>
  <dgm:scene3d>
    <a:camera prst="isometricOffAxis2Left" zoom="95000"/>
    <a:lightRig rig="flat" dir="t"/>
  </dgm:scene3d>
  <dgm:styleLbl name="align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 z="-400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4005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381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40050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38100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Acc0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 z="5715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15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52400" extrusionH="1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63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150"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3810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4005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.e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1.emf"/><Relationship Id="rId1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" Type="http://schemas.openxmlformats.org/officeDocument/2006/relationships/diagramData" Target="../diagrams/data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2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GIF"/><Relationship Id="rId2" Type="http://schemas.openxmlformats.org/officeDocument/2006/relationships/image" Target="../media/image5.emf"/><Relationship Id="rId1" Type="http://schemas.openxmlformats.org/officeDocument/2006/relationships/oleObject" Target="../embeddings/oleObject3.bin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emf"/><Relationship Id="rId1" Type="http://schemas.openxmlformats.org/officeDocument/2006/relationships/oleObject" Target="../embeddings/oleObject4.bin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4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emf"/><Relationship Id="rId1" Type="http://schemas.openxmlformats.org/officeDocument/2006/relationships/oleObject" Target="../embeddings/oleObject5.bin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602889" y="2948947"/>
            <a:ext cx="1821180" cy="8299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4800" b="1" dirty="0" smtClean="0">
                <a:solidFill>
                  <a:schemeClr val="bg1"/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第</a:t>
            </a:r>
            <a:r>
              <a:rPr lang="en-US" altLang="zh-CN" sz="4800" b="1" dirty="0" smtClean="0">
                <a:solidFill>
                  <a:schemeClr val="bg1"/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7</a:t>
            </a:r>
            <a:r>
              <a:rPr lang="zh-CN" altLang="en-US" sz="4800" b="1" dirty="0" smtClean="0">
                <a:solidFill>
                  <a:schemeClr val="bg1"/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章 </a:t>
            </a:r>
            <a:endParaRPr lang="zh-CN" altLang="en-US" sz="4800" dirty="0">
              <a:solidFill>
                <a:schemeClr val="bg1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3791744" y="2372883"/>
            <a:ext cx="6864085" cy="182420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5" name="矩形 4"/>
          <p:cNvSpPr/>
          <p:nvPr/>
        </p:nvSpPr>
        <p:spPr>
          <a:xfrm>
            <a:off x="3791744" y="2946684"/>
            <a:ext cx="6864085" cy="82994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4800" b="1" dirty="0" smtClean="0">
                <a:solidFill>
                  <a:schemeClr val="accent1">
                    <a:lumMod val="75000"/>
                  </a:schemeClr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串 口 通 信</a:t>
            </a:r>
            <a:endParaRPr lang="zh-CN" altLang="zh-CN" sz="4800" b="1" dirty="0">
              <a:solidFill>
                <a:schemeClr val="accent1">
                  <a:lumMod val="75000"/>
                </a:schemeClr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  <p:sp>
        <p:nvSpPr>
          <p:cNvPr id="13" name="菱形 12"/>
          <p:cNvSpPr/>
          <p:nvPr/>
        </p:nvSpPr>
        <p:spPr>
          <a:xfrm>
            <a:off x="10416480" y="5541235"/>
            <a:ext cx="1248139" cy="775856"/>
          </a:xfrm>
          <a:prstGeom prst="diamond">
            <a:avLst/>
          </a:prstGeom>
          <a:solidFill>
            <a:schemeClr val="bg1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14" name="菱形 13"/>
          <p:cNvSpPr/>
          <p:nvPr/>
        </p:nvSpPr>
        <p:spPr>
          <a:xfrm>
            <a:off x="9792411" y="5515163"/>
            <a:ext cx="1248139" cy="775856"/>
          </a:xfrm>
          <a:prstGeom prst="diamond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8" name="矩形 7"/>
          <p:cNvSpPr/>
          <p:nvPr/>
        </p:nvSpPr>
        <p:spPr>
          <a:xfrm>
            <a:off x="4367808" y="2379437"/>
            <a:ext cx="2553149" cy="130324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sp>
        <p:nvSpPr>
          <p:cNvPr id="18" name="矩形 17"/>
          <p:cNvSpPr/>
          <p:nvPr/>
        </p:nvSpPr>
        <p:spPr>
          <a:xfrm>
            <a:off x="7344139" y="4066761"/>
            <a:ext cx="2553149" cy="130324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圆角矩形 15"/>
          <p:cNvSpPr/>
          <p:nvPr/>
        </p:nvSpPr>
        <p:spPr>
          <a:xfrm>
            <a:off x="6288021" y="1508787"/>
            <a:ext cx="5376597" cy="4416491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2135" b="1" dirty="0" smtClean="0"/>
          </a:p>
        </p:txBody>
      </p:sp>
      <p:sp>
        <p:nvSpPr>
          <p:cNvPr id="15" name="圆角矩形 14"/>
          <p:cNvSpPr/>
          <p:nvPr/>
        </p:nvSpPr>
        <p:spPr>
          <a:xfrm>
            <a:off x="623392" y="1508787"/>
            <a:ext cx="5376597" cy="4416491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2135" b="1" dirty="0" smtClean="0"/>
          </a:p>
        </p:txBody>
      </p:sp>
      <p:sp>
        <p:nvSpPr>
          <p:cNvPr id="11" name="矩形 10"/>
          <p:cNvSpPr/>
          <p:nvPr/>
        </p:nvSpPr>
        <p:spPr>
          <a:xfrm>
            <a:off x="3" y="452671"/>
            <a:ext cx="2966848" cy="672075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sz="2400" dirty="0"/>
          </a:p>
        </p:txBody>
      </p:sp>
      <p:sp>
        <p:nvSpPr>
          <p:cNvPr id="4" name="矩形 3"/>
          <p:cNvSpPr/>
          <p:nvPr/>
        </p:nvSpPr>
        <p:spPr>
          <a:xfrm>
            <a:off x="104137" y="509191"/>
            <a:ext cx="2180590" cy="583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1 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通信概述</a:t>
            </a:r>
            <a:endParaRPr lang="zh-CN" altLang="zh-CN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-245427"/>
            <a:ext cx="370840" cy="4908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920" tIns="60960" rIns="121920" bIns="60960" numCol="1" anchor="ctr" anchorCtr="0" compatLnSpc="1">
            <a:spAutoFit/>
          </a:bodyPr>
          <a:lstStyle/>
          <a:p>
            <a:endParaRPr lang="zh-CN" altLang="en-US" sz="2400"/>
          </a:p>
        </p:txBody>
      </p:sp>
      <p:sp>
        <p:nvSpPr>
          <p:cNvPr id="7" name="矩形 6"/>
          <p:cNvSpPr/>
          <p:nvPr/>
        </p:nvSpPr>
        <p:spPr>
          <a:xfrm>
            <a:off x="719403" y="1796819"/>
            <a:ext cx="5184576" cy="1938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400" b="1" dirty="0" smtClean="0"/>
              <a:t>      </a:t>
            </a:r>
            <a:r>
              <a:rPr lang="zh-CN" altLang="en-US" sz="2400" b="1" dirty="0" smtClean="0">
                <a:solidFill>
                  <a:srgbClr val="C00000"/>
                </a:solidFill>
              </a:rPr>
              <a:t>串行</a:t>
            </a:r>
            <a:r>
              <a:rPr lang="zh-CN" altLang="en-US" sz="2400" b="1" dirty="0">
                <a:solidFill>
                  <a:srgbClr val="C00000"/>
                </a:solidFill>
              </a:rPr>
              <a:t>通信</a:t>
            </a:r>
            <a:r>
              <a:rPr lang="zh-CN" altLang="en-US" sz="2400" b="1" dirty="0"/>
              <a:t>（</a:t>
            </a:r>
            <a:r>
              <a:rPr lang="en-US" altLang="zh-CN" sz="2400" b="1" dirty="0"/>
              <a:t>Serial Transmission</a:t>
            </a:r>
            <a:r>
              <a:rPr lang="zh-CN" altLang="en-US" sz="2400" b="1" dirty="0"/>
              <a:t>），是指通过一根数据线或少量数据线（少于</a:t>
            </a:r>
            <a:r>
              <a:rPr lang="en-US" altLang="zh-CN" sz="2400" b="1" dirty="0"/>
              <a:t>8</a:t>
            </a:r>
            <a:r>
              <a:rPr lang="zh-CN" altLang="en-US" sz="2400" b="1" dirty="0"/>
              <a:t>根）将数据一位一位地按顺序依次</a:t>
            </a:r>
            <a:r>
              <a:rPr lang="zh-CN" altLang="en-US" sz="2400" b="1" dirty="0" smtClean="0"/>
              <a:t>传送。</a:t>
            </a:r>
            <a:endParaRPr lang="en-US" altLang="zh-CN" sz="2400" b="1" dirty="0" smtClean="0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0" y="-245427"/>
            <a:ext cx="370840" cy="4908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920" tIns="60960" rIns="121920" bIns="60960" numCol="1" anchor="ctr" anchorCtr="0" compatLnSpc="1">
            <a:spAutoFit/>
          </a:bodyPr>
          <a:lstStyle/>
          <a:p>
            <a:endParaRPr lang="zh-CN" altLang="en-US" sz="2400"/>
          </a:p>
        </p:txBody>
      </p:sp>
      <p:sp>
        <p:nvSpPr>
          <p:cNvPr id="2" name="Rectangle 7"/>
          <p:cNvSpPr>
            <a:spLocks noChangeArrowheads="1"/>
          </p:cNvSpPr>
          <p:nvPr/>
        </p:nvSpPr>
        <p:spPr bwMode="auto">
          <a:xfrm>
            <a:off x="0" y="-245427"/>
            <a:ext cx="370840" cy="4908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920" tIns="60960" rIns="121920" bIns="60960" numCol="1" anchor="ctr" anchorCtr="0" compatLnSpc="1">
            <a:spAutoFit/>
          </a:bodyPr>
          <a:lstStyle/>
          <a:p>
            <a:endParaRPr lang="zh-CN" altLang="en-US" sz="2400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835277" y="4197085"/>
          <a:ext cx="4684659" cy="14401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300" name="Visio" r:id="rId1" imgW="2875280" imgH="883920" progId="Visio.Drawing.11">
                  <p:embed/>
                </p:oleObj>
              </mc:Choice>
              <mc:Fallback>
                <p:oleObj name="Visio" r:id="rId1" imgW="2875280" imgH="883920" progId="Visio.Drawing.11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5277" y="4197085"/>
                        <a:ext cx="4684659" cy="144016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矩形 11"/>
          <p:cNvSpPr/>
          <p:nvPr/>
        </p:nvSpPr>
        <p:spPr>
          <a:xfrm>
            <a:off x="6768075" y="3813043"/>
            <a:ext cx="4800533" cy="1938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400" b="1" dirty="0" smtClean="0"/>
              <a:t>    </a:t>
            </a:r>
            <a:r>
              <a:rPr lang="zh-CN" altLang="en-US" sz="2400" b="1" dirty="0" smtClean="0">
                <a:solidFill>
                  <a:srgbClr val="C00000"/>
                </a:solidFill>
              </a:rPr>
              <a:t>并行</a:t>
            </a:r>
            <a:r>
              <a:rPr lang="zh-CN" altLang="en-US" sz="2400" b="1" dirty="0">
                <a:solidFill>
                  <a:srgbClr val="C00000"/>
                </a:solidFill>
              </a:rPr>
              <a:t>通信</a:t>
            </a:r>
            <a:r>
              <a:rPr lang="zh-CN" altLang="en-US" sz="2400" b="1" dirty="0"/>
              <a:t>（</a:t>
            </a:r>
            <a:r>
              <a:rPr lang="en-US" altLang="zh-CN" sz="2400" b="1" dirty="0"/>
              <a:t>Parallel Transmission</a:t>
            </a:r>
            <a:r>
              <a:rPr lang="zh-CN" altLang="en-US" sz="2400" b="1" dirty="0"/>
              <a:t>），是指用多条数据线同时传送多位数据，通常以</a:t>
            </a:r>
            <a:r>
              <a:rPr lang="en-US" altLang="zh-CN" sz="2400" b="1" dirty="0"/>
              <a:t>8</a:t>
            </a:r>
            <a:r>
              <a:rPr lang="zh-CN" altLang="en-US" sz="2400" b="1" dirty="0"/>
              <a:t>位、</a:t>
            </a:r>
            <a:r>
              <a:rPr lang="en-US" altLang="zh-CN" sz="2400" b="1" dirty="0"/>
              <a:t>16</a:t>
            </a:r>
            <a:r>
              <a:rPr lang="zh-CN" altLang="en-US" sz="2400" b="1" dirty="0"/>
              <a:t>位、</a:t>
            </a:r>
            <a:r>
              <a:rPr lang="en-US" altLang="zh-CN" sz="2400" b="1" dirty="0"/>
              <a:t>32</a:t>
            </a:r>
            <a:r>
              <a:rPr lang="zh-CN" altLang="en-US" sz="2400" b="1" dirty="0"/>
              <a:t>位等数据位</a:t>
            </a:r>
            <a:r>
              <a:rPr lang="zh-CN" altLang="en-US" sz="2400" b="1" dirty="0" smtClean="0"/>
              <a:t>传送。</a:t>
            </a:r>
            <a:endParaRPr lang="zh-CN" altLang="en-US" sz="2400" b="1" dirty="0"/>
          </a:p>
        </p:txBody>
      </p:sp>
      <p:sp>
        <p:nvSpPr>
          <p:cNvPr id="13" name="Rectangle 9"/>
          <p:cNvSpPr>
            <a:spLocks noChangeArrowheads="1"/>
          </p:cNvSpPr>
          <p:nvPr/>
        </p:nvSpPr>
        <p:spPr bwMode="auto">
          <a:xfrm>
            <a:off x="0" y="-245427"/>
            <a:ext cx="370840" cy="4908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920" tIns="60960" rIns="121920" bIns="60960" numCol="1" anchor="ctr" anchorCtr="0" compatLnSpc="1">
            <a:spAutoFit/>
          </a:bodyPr>
          <a:lstStyle/>
          <a:p>
            <a:endParaRPr lang="zh-CN" altLang="en-US" sz="2400"/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6576053" y="1892829"/>
          <a:ext cx="4830403" cy="15361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301" name="Visio" r:id="rId3" imgW="4483100" imgH="1435100" progId="Visio.Drawing.11">
                  <p:embed/>
                </p:oleObj>
              </mc:Choice>
              <mc:Fallback>
                <p:oleObj name="Visio" r:id="rId3" imgW="4483100" imgH="1435100" progId="Visio.Drawing.11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76053" y="1892829"/>
                        <a:ext cx="4830403" cy="153617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矩形 16"/>
          <p:cNvSpPr/>
          <p:nvPr/>
        </p:nvSpPr>
        <p:spPr>
          <a:xfrm>
            <a:off x="5039883" y="504599"/>
            <a:ext cx="3360373" cy="553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400" b="1" dirty="0" smtClean="0">
                <a:solidFill>
                  <a:srgbClr val="C00000"/>
                </a:solidFill>
              </a:rPr>
              <a:t>    串行通信</a:t>
            </a:r>
            <a:r>
              <a:rPr lang="zh-CN" altLang="en-US" sz="2400" b="1" dirty="0" smtClean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与</a:t>
            </a:r>
            <a:r>
              <a:rPr lang="zh-CN" altLang="en-US" sz="2400" b="1" dirty="0">
                <a:solidFill>
                  <a:srgbClr val="C00000"/>
                </a:solidFill>
              </a:rPr>
              <a:t>并行</a:t>
            </a:r>
            <a:r>
              <a:rPr lang="zh-CN" altLang="en-US" sz="2400" b="1" dirty="0" smtClean="0">
                <a:solidFill>
                  <a:srgbClr val="C00000"/>
                </a:solidFill>
              </a:rPr>
              <a:t>通信</a:t>
            </a:r>
            <a:endParaRPr lang="en-US" altLang="zh-CN" sz="2400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3" y="452671"/>
            <a:ext cx="2966848" cy="672075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sz="2400" dirty="0"/>
          </a:p>
        </p:txBody>
      </p:sp>
      <p:sp>
        <p:nvSpPr>
          <p:cNvPr id="4" name="矩形 3"/>
          <p:cNvSpPr/>
          <p:nvPr/>
        </p:nvSpPr>
        <p:spPr>
          <a:xfrm>
            <a:off x="104137" y="509191"/>
            <a:ext cx="2180590" cy="583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1 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通信概述</a:t>
            </a:r>
            <a:endParaRPr lang="zh-CN" altLang="zh-CN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-245427"/>
            <a:ext cx="370840" cy="4908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920" tIns="60960" rIns="121920" bIns="60960" numCol="1" anchor="ctr" anchorCtr="0" compatLnSpc="1">
            <a:spAutoFit/>
          </a:bodyPr>
          <a:lstStyle/>
          <a:p>
            <a:endParaRPr lang="zh-CN" altLang="en-US" sz="2400"/>
          </a:p>
        </p:txBody>
      </p:sp>
      <p:sp>
        <p:nvSpPr>
          <p:cNvPr id="7" name="矩形 6"/>
          <p:cNvSpPr/>
          <p:nvPr/>
        </p:nvSpPr>
        <p:spPr>
          <a:xfrm>
            <a:off x="1007435" y="1412776"/>
            <a:ext cx="4224469" cy="3784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400" b="1" dirty="0" smtClean="0"/>
              <a:t>     </a:t>
            </a:r>
            <a:r>
              <a:rPr lang="zh-CN" altLang="en-US" sz="2400" b="1" dirty="0" smtClean="0">
                <a:solidFill>
                  <a:srgbClr val="C00000"/>
                </a:solidFill>
              </a:rPr>
              <a:t>并行</a:t>
            </a:r>
            <a:r>
              <a:rPr lang="zh-CN" altLang="en-US" sz="2400" b="1" dirty="0">
                <a:solidFill>
                  <a:srgbClr val="C00000"/>
                </a:solidFill>
              </a:rPr>
              <a:t>通信</a:t>
            </a:r>
            <a:r>
              <a:rPr lang="zh-CN" altLang="en-US" sz="2400" b="1" dirty="0"/>
              <a:t>一次可传输多个数据位的数据</a:t>
            </a:r>
            <a:r>
              <a:rPr lang="zh-CN" altLang="en-US" sz="2400" b="1" dirty="0" smtClean="0"/>
              <a:t>，并行</a:t>
            </a:r>
            <a:r>
              <a:rPr lang="zh-CN" altLang="en-US" sz="2400" b="1" dirty="0"/>
              <a:t>通信传输数据量是串行传输的数倍</a:t>
            </a:r>
            <a:r>
              <a:rPr lang="zh-CN" altLang="en-US" sz="2400" b="1" dirty="0" smtClean="0"/>
              <a:t>，如早期的并行接口</a:t>
            </a:r>
            <a:r>
              <a:rPr lang="zh-CN" altLang="en-US" sz="2400" b="1" dirty="0"/>
              <a:t>的硬盘、打印机，采用</a:t>
            </a:r>
            <a:r>
              <a:rPr lang="en-US" altLang="zh-CN" sz="2400" b="1" dirty="0"/>
              <a:t>PCI</a:t>
            </a:r>
            <a:r>
              <a:rPr lang="zh-CN" altLang="en-US" sz="2400" b="1" dirty="0"/>
              <a:t>（</a:t>
            </a:r>
            <a:r>
              <a:rPr lang="en-US" altLang="zh-CN" sz="2400" b="1" dirty="0"/>
              <a:t>Peripheral Component Interconnect</a:t>
            </a:r>
            <a:r>
              <a:rPr lang="zh-CN" altLang="en-US" sz="2400" b="1" dirty="0"/>
              <a:t>，外设部件互连标准）并行接口的显卡等。</a:t>
            </a:r>
            <a:endParaRPr lang="en-US" altLang="zh-CN" sz="2400" b="1" dirty="0" smtClean="0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0" y="-245427"/>
            <a:ext cx="370840" cy="4908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920" tIns="60960" rIns="121920" bIns="60960" numCol="1" anchor="ctr" anchorCtr="0" compatLnSpc="1">
            <a:spAutoFit/>
          </a:bodyPr>
          <a:lstStyle/>
          <a:p>
            <a:endParaRPr lang="zh-CN" altLang="en-US" sz="2400"/>
          </a:p>
        </p:txBody>
      </p:sp>
      <p:sp>
        <p:nvSpPr>
          <p:cNvPr id="2" name="Rectangle 7"/>
          <p:cNvSpPr>
            <a:spLocks noChangeArrowheads="1"/>
          </p:cNvSpPr>
          <p:nvPr/>
        </p:nvSpPr>
        <p:spPr bwMode="auto">
          <a:xfrm>
            <a:off x="0" y="-245427"/>
            <a:ext cx="370840" cy="4908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920" tIns="60960" rIns="121920" bIns="60960" numCol="1" anchor="ctr" anchorCtr="0" compatLnSpc="1">
            <a:spAutoFit/>
          </a:bodyPr>
          <a:lstStyle/>
          <a:p>
            <a:endParaRPr lang="zh-CN" altLang="en-US" sz="2400"/>
          </a:p>
        </p:txBody>
      </p:sp>
      <p:graphicFrame>
        <p:nvGraphicFramePr>
          <p:cNvPr id="9" name="图示 8"/>
          <p:cNvGraphicFramePr/>
          <p:nvPr/>
        </p:nvGraphicFramePr>
        <p:xfrm>
          <a:off x="4898444" y="1316767"/>
          <a:ext cx="6094100" cy="40324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sp>
        <p:nvSpPr>
          <p:cNvPr id="13" name="Rectangle 9"/>
          <p:cNvSpPr>
            <a:spLocks noChangeArrowheads="1"/>
          </p:cNvSpPr>
          <p:nvPr/>
        </p:nvSpPr>
        <p:spPr bwMode="auto">
          <a:xfrm>
            <a:off x="0" y="-245427"/>
            <a:ext cx="370840" cy="4908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920" tIns="60960" rIns="121920" bIns="60960" numCol="1" anchor="ctr" anchorCtr="0" compatLnSpc="1">
            <a:spAutoFit/>
          </a:bodyPr>
          <a:lstStyle/>
          <a:p>
            <a:endParaRPr lang="zh-CN" altLang="en-US" sz="2400"/>
          </a:p>
        </p:txBody>
      </p:sp>
      <p:sp>
        <p:nvSpPr>
          <p:cNvPr id="17" name="矩形 16"/>
          <p:cNvSpPr/>
          <p:nvPr/>
        </p:nvSpPr>
        <p:spPr>
          <a:xfrm>
            <a:off x="1295467" y="5739108"/>
            <a:ext cx="9793088" cy="46037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2400" b="1" dirty="0"/>
              <a:t>计算机内部的总线结构，即</a:t>
            </a:r>
            <a:r>
              <a:rPr lang="en-US" altLang="zh-CN" sz="2400" b="1" dirty="0"/>
              <a:t>CPU</a:t>
            </a:r>
            <a:r>
              <a:rPr lang="zh-CN" altLang="en-US" sz="2400" b="1" dirty="0"/>
              <a:t>与内部寄存器及接口之间采用并行传输。</a:t>
            </a:r>
            <a:endParaRPr lang="zh-CN" altLang="en-US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3" y="452671"/>
            <a:ext cx="2966848" cy="672075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sz="2400" dirty="0"/>
          </a:p>
        </p:txBody>
      </p:sp>
      <p:sp>
        <p:nvSpPr>
          <p:cNvPr id="4" name="矩形 3"/>
          <p:cNvSpPr/>
          <p:nvPr/>
        </p:nvSpPr>
        <p:spPr>
          <a:xfrm>
            <a:off x="104137" y="509191"/>
            <a:ext cx="2180590" cy="583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1 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通信概述</a:t>
            </a:r>
            <a:endParaRPr lang="zh-CN" altLang="zh-CN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-245427"/>
            <a:ext cx="370840" cy="4908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920" tIns="60960" rIns="121920" bIns="60960" numCol="1" anchor="ctr" anchorCtr="0" compatLnSpc="1">
            <a:spAutoFit/>
          </a:bodyPr>
          <a:lstStyle/>
          <a:p>
            <a:endParaRPr lang="zh-CN" altLang="en-US" sz="2400"/>
          </a:p>
        </p:txBody>
      </p:sp>
      <p:sp>
        <p:nvSpPr>
          <p:cNvPr id="7" name="矩形 6"/>
          <p:cNvSpPr/>
          <p:nvPr/>
        </p:nvSpPr>
        <p:spPr>
          <a:xfrm>
            <a:off x="1199456" y="1124745"/>
            <a:ext cx="9985109" cy="10147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400" b="1" dirty="0" smtClean="0">
                <a:solidFill>
                  <a:srgbClr val="C00000"/>
                </a:solidFill>
              </a:rPr>
              <a:t>     串行</a:t>
            </a:r>
            <a:r>
              <a:rPr lang="zh-CN" altLang="en-US" sz="2400" b="1" dirty="0">
                <a:solidFill>
                  <a:srgbClr val="C00000"/>
                </a:solidFill>
              </a:rPr>
              <a:t>通信</a:t>
            </a:r>
            <a:r>
              <a:rPr lang="zh-CN" altLang="en-US" sz="2400" b="1" dirty="0"/>
              <a:t>是目前最为流行的一种通信方式，如</a:t>
            </a:r>
            <a:r>
              <a:rPr lang="en-US" altLang="zh-CN" sz="2400" b="1" dirty="0"/>
              <a:t>U</a:t>
            </a:r>
            <a:r>
              <a:rPr lang="zh-CN" altLang="en-US" sz="2400" b="1" dirty="0"/>
              <a:t>盘以及采用</a:t>
            </a:r>
            <a:r>
              <a:rPr lang="en-US" altLang="zh-CN" sz="2400" b="1" dirty="0"/>
              <a:t>USB</a:t>
            </a:r>
            <a:r>
              <a:rPr lang="zh-CN" altLang="en-US" sz="2400" b="1" dirty="0"/>
              <a:t>接口的设备、工业上常用的</a:t>
            </a:r>
            <a:r>
              <a:rPr lang="en-US" altLang="zh-CN" sz="2400" b="1" dirty="0"/>
              <a:t>RS-485</a:t>
            </a:r>
            <a:r>
              <a:rPr lang="zh-CN" altLang="en-US" sz="2400" b="1" dirty="0"/>
              <a:t>和</a:t>
            </a:r>
            <a:r>
              <a:rPr lang="en-US" altLang="zh-CN" sz="2400" b="1" dirty="0"/>
              <a:t>RS-232</a:t>
            </a:r>
            <a:r>
              <a:rPr lang="zh-CN" altLang="en-US" sz="2400" b="1" dirty="0"/>
              <a:t>等，都是串行通信设备。</a:t>
            </a:r>
            <a:endParaRPr lang="en-US" altLang="zh-CN" sz="2400" b="1" dirty="0" smtClean="0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0" y="-245427"/>
            <a:ext cx="370840" cy="4908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920" tIns="60960" rIns="121920" bIns="60960" numCol="1" anchor="ctr" anchorCtr="0" compatLnSpc="1">
            <a:spAutoFit/>
          </a:bodyPr>
          <a:lstStyle/>
          <a:p>
            <a:endParaRPr lang="zh-CN" altLang="en-US" sz="2400"/>
          </a:p>
        </p:txBody>
      </p:sp>
      <p:sp>
        <p:nvSpPr>
          <p:cNvPr id="2" name="Rectangle 7"/>
          <p:cNvSpPr>
            <a:spLocks noChangeArrowheads="1"/>
          </p:cNvSpPr>
          <p:nvPr/>
        </p:nvSpPr>
        <p:spPr bwMode="auto">
          <a:xfrm>
            <a:off x="0" y="-245427"/>
            <a:ext cx="370840" cy="4908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920" tIns="60960" rIns="121920" bIns="60960" numCol="1" anchor="ctr" anchorCtr="0" compatLnSpc="1">
            <a:spAutoFit/>
          </a:bodyPr>
          <a:lstStyle/>
          <a:p>
            <a:endParaRPr lang="zh-CN" altLang="en-US" sz="2400"/>
          </a:p>
        </p:txBody>
      </p:sp>
      <p:sp>
        <p:nvSpPr>
          <p:cNvPr id="13" name="Rectangle 9"/>
          <p:cNvSpPr>
            <a:spLocks noChangeArrowheads="1"/>
          </p:cNvSpPr>
          <p:nvPr/>
        </p:nvSpPr>
        <p:spPr bwMode="auto">
          <a:xfrm>
            <a:off x="0" y="-245427"/>
            <a:ext cx="370840" cy="4908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920" tIns="60960" rIns="121920" bIns="60960" numCol="1" anchor="ctr" anchorCtr="0" compatLnSpc="1">
            <a:spAutoFit/>
          </a:bodyPr>
          <a:lstStyle/>
          <a:p>
            <a:endParaRPr lang="zh-CN" altLang="en-US" sz="2400"/>
          </a:p>
        </p:txBody>
      </p:sp>
      <p:pic>
        <p:nvPicPr>
          <p:cNvPr id="10" name="图片 9" descr="https://ss1.bdstatic.com/70cFuXSh_Q1YnxGkpoWK1HF6hhy/it/u=341722849,3176513824&amp;fm=27&amp;gp=0.jpg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87461" y="2482259"/>
            <a:ext cx="4316517" cy="18242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图片 11" descr="https://timgsa.baidu.com/timg?image&amp;quality=80&amp;size=b9999_10000&amp;sec=1523960156434&amp;di=b50f40b80e2174c9dc8d3ab33ddbd7c1&amp;imgtype=0&amp;src=http%3A%2F%2Fa2.att.hudong.com%2F00%2F41%2F01100000000000144722415210915_s.jp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141159" y="2180861"/>
            <a:ext cx="2208245" cy="249627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矩形 2"/>
          <p:cNvSpPr/>
          <p:nvPr/>
        </p:nvSpPr>
        <p:spPr>
          <a:xfrm>
            <a:off x="2255573" y="4779000"/>
            <a:ext cx="2960370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/>
              <a:t>USB</a:t>
            </a:r>
            <a:r>
              <a:rPr lang="zh-CN" altLang="zh-CN" sz="2400" b="1" dirty="0"/>
              <a:t>的串行通信接口</a:t>
            </a:r>
            <a:endParaRPr lang="zh-CN" altLang="en-US" sz="2400" b="1" dirty="0"/>
          </a:p>
        </p:txBody>
      </p:sp>
      <p:sp>
        <p:nvSpPr>
          <p:cNvPr id="14" name="矩形 13"/>
          <p:cNvSpPr/>
          <p:nvPr/>
        </p:nvSpPr>
        <p:spPr>
          <a:xfrm>
            <a:off x="6930564" y="4862621"/>
            <a:ext cx="2841625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/>
              <a:t>U</a:t>
            </a:r>
            <a:r>
              <a:rPr lang="zh-CN" altLang="zh-CN" sz="2400" b="1" dirty="0"/>
              <a:t>盘的串行通信接口</a:t>
            </a:r>
            <a:endParaRPr lang="zh-CN" altLang="en-US" sz="2400" b="1" dirty="0"/>
          </a:p>
        </p:txBody>
      </p:sp>
      <p:sp>
        <p:nvSpPr>
          <p:cNvPr id="15" name="矩形 14"/>
          <p:cNvSpPr/>
          <p:nvPr/>
        </p:nvSpPr>
        <p:spPr>
          <a:xfrm>
            <a:off x="623392" y="5445224"/>
            <a:ext cx="11233248" cy="101473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400" b="1" dirty="0" smtClean="0"/>
              <a:t>     计算机网络</a:t>
            </a:r>
            <a:r>
              <a:rPr lang="zh-CN" altLang="en-US" sz="2400" b="1" dirty="0"/>
              <a:t>中所使用的传输方式均是串行传输，单片机与外设之间也大多采用各类串行接口，比如</a:t>
            </a:r>
            <a:r>
              <a:rPr lang="en-US" altLang="zh-CN" sz="2400" b="1" dirty="0"/>
              <a:t>USART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USB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IIC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SPI</a:t>
            </a:r>
            <a:r>
              <a:rPr lang="zh-CN" altLang="en-US" sz="2400" b="1" dirty="0" smtClean="0"/>
              <a:t>等。</a:t>
            </a:r>
            <a:endParaRPr lang="zh-CN" altLang="en-US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/>
        </p:nvSpPr>
        <p:spPr>
          <a:xfrm>
            <a:off x="527381" y="1316765"/>
            <a:ext cx="6336704" cy="4992555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2135" b="1" dirty="0" smtClean="0"/>
          </a:p>
        </p:txBody>
      </p:sp>
      <p:sp>
        <p:nvSpPr>
          <p:cNvPr id="11" name="矩形 10"/>
          <p:cNvSpPr/>
          <p:nvPr/>
        </p:nvSpPr>
        <p:spPr>
          <a:xfrm>
            <a:off x="3" y="452671"/>
            <a:ext cx="2966848" cy="672075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sz="2400" dirty="0"/>
          </a:p>
        </p:txBody>
      </p:sp>
      <p:sp>
        <p:nvSpPr>
          <p:cNvPr id="4" name="矩形 3"/>
          <p:cNvSpPr/>
          <p:nvPr/>
        </p:nvSpPr>
        <p:spPr>
          <a:xfrm>
            <a:off x="104137" y="509191"/>
            <a:ext cx="2180590" cy="583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1 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通信概述</a:t>
            </a:r>
            <a:endParaRPr lang="zh-CN" altLang="zh-CN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-245427"/>
            <a:ext cx="370840" cy="4908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920" tIns="60960" rIns="121920" bIns="60960" numCol="1" anchor="ctr" anchorCtr="0" compatLnSpc="1">
            <a:spAutoFit/>
          </a:bodyPr>
          <a:lstStyle/>
          <a:p>
            <a:endParaRPr lang="zh-CN" altLang="en-US" sz="2400"/>
          </a:p>
        </p:txBody>
      </p:sp>
      <p:sp>
        <p:nvSpPr>
          <p:cNvPr id="7" name="矩形 6"/>
          <p:cNvSpPr/>
          <p:nvPr/>
        </p:nvSpPr>
        <p:spPr>
          <a:xfrm>
            <a:off x="5039883" y="504599"/>
            <a:ext cx="3360373" cy="553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400" b="1" dirty="0" smtClean="0">
                <a:solidFill>
                  <a:srgbClr val="C00000"/>
                </a:solidFill>
              </a:rPr>
              <a:t>    同步通信</a:t>
            </a:r>
            <a:r>
              <a:rPr lang="zh-CN" altLang="en-US" sz="2400" b="1" dirty="0" smtClean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与</a:t>
            </a:r>
            <a:r>
              <a:rPr lang="zh-CN" altLang="en-US" sz="2400" b="1" dirty="0" smtClean="0">
                <a:solidFill>
                  <a:srgbClr val="C00000"/>
                </a:solidFill>
              </a:rPr>
              <a:t>异步通信</a:t>
            </a:r>
            <a:endParaRPr lang="en-US" altLang="zh-CN" sz="2400" b="1" dirty="0" smtClean="0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0" y="-245427"/>
            <a:ext cx="370840" cy="4908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920" tIns="60960" rIns="121920" bIns="60960" numCol="1" anchor="ctr" anchorCtr="0" compatLnSpc="1">
            <a:spAutoFit/>
          </a:bodyPr>
          <a:lstStyle/>
          <a:p>
            <a:endParaRPr lang="zh-CN" altLang="en-US" sz="2400"/>
          </a:p>
        </p:txBody>
      </p:sp>
      <p:sp>
        <p:nvSpPr>
          <p:cNvPr id="2" name="Rectangle 7"/>
          <p:cNvSpPr>
            <a:spLocks noChangeArrowheads="1"/>
          </p:cNvSpPr>
          <p:nvPr/>
        </p:nvSpPr>
        <p:spPr bwMode="auto">
          <a:xfrm>
            <a:off x="0" y="-245427"/>
            <a:ext cx="370840" cy="4908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920" tIns="60960" rIns="121920" bIns="60960" numCol="1" anchor="ctr" anchorCtr="0" compatLnSpc="1">
            <a:spAutoFit/>
          </a:bodyPr>
          <a:lstStyle/>
          <a:p>
            <a:endParaRPr lang="zh-CN" altLang="en-US" sz="2400"/>
          </a:p>
        </p:txBody>
      </p:sp>
      <p:sp>
        <p:nvSpPr>
          <p:cNvPr id="13" name="Rectangle 9"/>
          <p:cNvSpPr>
            <a:spLocks noChangeArrowheads="1"/>
          </p:cNvSpPr>
          <p:nvPr/>
        </p:nvSpPr>
        <p:spPr bwMode="auto">
          <a:xfrm>
            <a:off x="0" y="-245427"/>
            <a:ext cx="370840" cy="4908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920" tIns="60960" rIns="121920" bIns="60960" numCol="1" anchor="ctr" anchorCtr="0" compatLnSpc="1">
            <a:spAutoFit/>
          </a:bodyPr>
          <a:lstStyle/>
          <a:p>
            <a:endParaRPr lang="zh-CN" altLang="en-US" sz="2400"/>
          </a:p>
        </p:txBody>
      </p:sp>
      <p:sp>
        <p:nvSpPr>
          <p:cNvPr id="15" name="矩形 14"/>
          <p:cNvSpPr/>
          <p:nvPr/>
        </p:nvSpPr>
        <p:spPr>
          <a:xfrm>
            <a:off x="1103445" y="1445683"/>
            <a:ext cx="4992555" cy="1938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400" b="1" dirty="0" smtClean="0"/>
              <a:t>    </a:t>
            </a:r>
            <a:r>
              <a:rPr lang="zh-CN" altLang="en-US" sz="2400" b="1" dirty="0" smtClean="0">
                <a:solidFill>
                  <a:srgbClr val="C00000"/>
                </a:solidFill>
              </a:rPr>
              <a:t>同步通信</a:t>
            </a:r>
            <a:r>
              <a:rPr lang="zh-CN" altLang="en-US" sz="2400" b="1" dirty="0" smtClean="0"/>
              <a:t>是连续</a:t>
            </a:r>
            <a:r>
              <a:rPr lang="zh-CN" altLang="en-US" sz="2400" b="1" dirty="0"/>
              <a:t>串行传送数据的通信方式，要求收发双方的时钟必须保持严格的同步</a:t>
            </a:r>
            <a:r>
              <a:rPr lang="zh-CN" altLang="en-US" sz="2400" b="1" dirty="0" smtClean="0"/>
              <a:t>。</a:t>
            </a:r>
            <a:endParaRPr lang="en-US" altLang="zh-CN" sz="2400" b="1" dirty="0" smtClean="0"/>
          </a:p>
          <a:p>
            <a:pPr>
              <a:lnSpc>
                <a:spcPct val="125000"/>
              </a:lnSpc>
            </a:pPr>
            <a:r>
              <a:rPr lang="en-US" altLang="zh-CN" sz="2400" b="1" dirty="0"/>
              <a:t> </a:t>
            </a:r>
            <a:r>
              <a:rPr lang="en-US" altLang="zh-CN" sz="2400" b="1" dirty="0" smtClean="0"/>
              <a:t>   </a:t>
            </a:r>
            <a:r>
              <a:rPr lang="zh-CN" altLang="en-US" sz="2400" b="1" dirty="0">
                <a:solidFill>
                  <a:srgbClr val="C00000"/>
                </a:solidFill>
              </a:rPr>
              <a:t>特点</a:t>
            </a:r>
            <a:r>
              <a:rPr lang="zh-CN" altLang="en-US" sz="2400" b="1" dirty="0" smtClean="0">
                <a:solidFill>
                  <a:srgbClr val="C00000"/>
                </a:solidFill>
              </a:rPr>
              <a:t>：</a:t>
            </a:r>
            <a:r>
              <a:rPr lang="zh-CN" altLang="en-US" sz="2400" b="1" dirty="0" smtClean="0"/>
              <a:t>输速率较高</a:t>
            </a:r>
            <a:endParaRPr lang="en-US" altLang="zh-CN" sz="2400" b="1" dirty="0" smtClean="0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-245427"/>
            <a:ext cx="370840" cy="4908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920" tIns="60960" rIns="121920" bIns="60960" numCol="1" anchor="ctr" anchorCtr="0" compatLnSpc="1">
            <a:spAutoFit/>
          </a:bodyPr>
          <a:lstStyle/>
          <a:p>
            <a:endParaRPr lang="zh-CN" altLang="en-US" sz="2400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721560" y="3621021"/>
          <a:ext cx="5963079" cy="22199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31" name="Visio" r:id="rId1" imgW="3738880" imgH="1402080" progId="Visio.Drawing.11">
                  <p:embed/>
                </p:oleObj>
              </mc:Choice>
              <mc:Fallback>
                <p:oleObj name="Visio" r:id="rId1" imgW="3738880" imgH="1402080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1560" y="3621021"/>
                        <a:ext cx="5963079" cy="221995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矩形 15"/>
          <p:cNvSpPr/>
          <p:nvPr/>
        </p:nvSpPr>
        <p:spPr>
          <a:xfrm>
            <a:off x="7536160" y="1316765"/>
            <a:ext cx="3943512" cy="470789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400" b="1" dirty="0" smtClean="0"/>
              <a:t>     </a:t>
            </a:r>
            <a:r>
              <a:rPr lang="zh-CN" altLang="en-US" sz="2400" b="1" dirty="0" smtClean="0">
                <a:solidFill>
                  <a:srgbClr val="C00000"/>
                </a:solidFill>
              </a:rPr>
              <a:t>异步通信</a:t>
            </a:r>
            <a:r>
              <a:rPr lang="zh-CN" altLang="en-US" sz="2400" b="1" dirty="0" smtClean="0"/>
              <a:t>在发送的有效数据中增加</a:t>
            </a:r>
            <a:r>
              <a:rPr lang="zh-CN" altLang="en-US" sz="2400" b="1" dirty="0"/>
              <a:t>一些用于同步的控制位，比如开始位和停止位等，数据以字符为单位组成</a:t>
            </a:r>
            <a:r>
              <a:rPr lang="zh-CN" altLang="en-US" sz="2400" b="1" dirty="0" smtClean="0"/>
              <a:t>数据帧进行</a:t>
            </a:r>
            <a:r>
              <a:rPr lang="zh-CN" altLang="en-US" sz="2400" b="1" dirty="0"/>
              <a:t>传送</a:t>
            </a:r>
            <a:r>
              <a:rPr lang="zh-CN" altLang="en-US" sz="2400" b="1" dirty="0" smtClean="0"/>
              <a:t>，收发双方需约定</a:t>
            </a:r>
            <a:r>
              <a:rPr lang="zh-CN" altLang="en-US" sz="2400" b="1" dirty="0"/>
              <a:t>数据的</a:t>
            </a:r>
            <a:r>
              <a:rPr lang="zh-CN" altLang="en-US" sz="2400" b="1" dirty="0" smtClean="0"/>
              <a:t>传输速率。</a:t>
            </a:r>
            <a:endParaRPr lang="zh-CN" altLang="en-US" sz="2400" b="1" dirty="0"/>
          </a:p>
          <a:p>
            <a:pPr>
              <a:lnSpc>
                <a:spcPct val="125000"/>
              </a:lnSpc>
            </a:pPr>
            <a:r>
              <a:rPr lang="zh-CN" altLang="en-US" sz="2400" b="1" dirty="0" smtClean="0">
                <a:solidFill>
                  <a:srgbClr val="C00000"/>
                </a:solidFill>
              </a:rPr>
              <a:t>      特点：</a:t>
            </a:r>
            <a:endParaRPr lang="en-US" altLang="zh-CN" sz="2400" b="1" dirty="0" smtClean="0">
              <a:solidFill>
                <a:srgbClr val="C00000"/>
              </a:solidFill>
            </a:endParaRPr>
          </a:p>
          <a:p>
            <a:pPr marL="285750" indent="-285750">
              <a:lnSpc>
                <a:spcPct val="125000"/>
              </a:lnSpc>
              <a:buBlip>
                <a:blip r:embed="rId3"/>
              </a:buBlip>
            </a:pPr>
            <a:r>
              <a:rPr lang="en-US" altLang="zh-CN" sz="2400" b="1" dirty="0">
                <a:solidFill>
                  <a:srgbClr val="C00000"/>
                </a:solidFill>
              </a:rPr>
              <a:t> </a:t>
            </a:r>
            <a:r>
              <a:rPr lang="zh-CN" altLang="en-US" sz="2400" b="1" dirty="0" smtClean="0"/>
              <a:t>传输</a:t>
            </a:r>
            <a:r>
              <a:rPr lang="zh-CN" altLang="en-US" sz="2400" b="1" dirty="0"/>
              <a:t>效率</a:t>
            </a:r>
            <a:r>
              <a:rPr lang="zh-CN" altLang="en-US" sz="2400" b="1" dirty="0" smtClean="0"/>
              <a:t>较低；</a:t>
            </a:r>
            <a:endParaRPr lang="en-US" altLang="zh-CN" sz="2400" b="1" dirty="0" smtClean="0"/>
          </a:p>
          <a:p>
            <a:pPr marL="285750" indent="-285750">
              <a:lnSpc>
                <a:spcPct val="125000"/>
              </a:lnSpc>
              <a:buBlip>
                <a:blip r:embed="rId3"/>
              </a:buBlip>
            </a:pPr>
            <a:r>
              <a:rPr lang="zh-CN" altLang="en-US" sz="2400" b="1" dirty="0" smtClean="0"/>
              <a:t>通信</a:t>
            </a:r>
            <a:r>
              <a:rPr lang="zh-CN" altLang="en-US" sz="2400" b="1" dirty="0"/>
              <a:t>设备实现简单、成本</a:t>
            </a:r>
            <a:r>
              <a:rPr lang="zh-CN" altLang="en-US" sz="2400" b="1" dirty="0" smtClean="0"/>
              <a:t>低。</a:t>
            </a:r>
            <a:endParaRPr lang="zh-CN" altLang="en-US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3" y="452671"/>
            <a:ext cx="2966848" cy="672075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sz="2400" dirty="0"/>
          </a:p>
        </p:txBody>
      </p:sp>
      <p:sp>
        <p:nvSpPr>
          <p:cNvPr id="4" name="矩形 3"/>
          <p:cNvSpPr/>
          <p:nvPr/>
        </p:nvSpPr>
        <p:spPr>
          <a:xfrm>
            <a:off x="104137" y="509191"/>
            <a:ext cx="2180590" cy="583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1 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通信概述</a:t>
            </a:r>
            <a:endParaRPr lang="zh-CN" altLang="zh-CN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-245427"/>
            <a:ext cx="370840" cy="4908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920" tIns="60960" rIns="121920" bIns="60960" numCol="1" anchor="ctr" anchorCtr="0" compatLnSpc="1">
            <a:spAutoFit/>
          </a:bodyPr>
          <a:lstStyle/>
          <a:p>
            <a:endParaRPr lang="zh-CN" altLang="en-US" sz="2400"/>
          </a:p>
        </p:txBody>
      </p:sp>
      <p:sp>
        <p:nvSpPr>
          <p:cNvPr id="7" name="矩形 6"/>
          <p:cNvSpPr/>
          <p:nvPr/>
        </p:nvSpPr>
        <p:spPr>
          <a:xfrm>
            <a:off x="5039883" y="504599"/>
            <a:ext cx="4128459" cy="553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400" b="1" dirty="0">
                <a:solidFill>
                  <a:srgbClr val="C00000"/>
                </a:solidFill>
              </a:rPr>
              <a:t>单工、半双工、全双工通信</a:t>
            </a:r>
            <a:endParaRPr lang="en-US" altLang="zh-CN" sz="2400" b="1" dirty="0" smtClean="0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0" y="-245427"/>
            <a:ext cx="370840" cy="4908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920" tIns="60960" rIns="121920" bIns="60960" numCol="1" anchor="ctr" anchorCtr="0" compatLnSpc="1">
            <a:spAutoFit/>
          </a:bodyPr>
          <a:lstStyle/>
          <a:p>
            <a:endParaRPr lang="zh-CN" altLang="en-US" sz="2400"/>
          </a:p>
        </p:txBody>
      </p:sp>
      <p:sp>
        <p:nvSpPr>
          <p:cNvPr id="2" name="Rectangle 7"/>
          <p:cNvSpPr>
            <a:spLocks noChangeArrowheads="1"/>
          </p:cNvSpPr>
          <p:nvPr/>
        </p:nvSpPr>
        <p:spPr bwMode="auto">
          <a:xfrm>
            <a:off x="0" y="-245427"/>
            <a:ext cx="370840" cy="4908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920" tIns="60960" rIns="121920" bIns="60960" numCol="1" anchor="ctr" anchorCtr="0" compatLnSpc="1">
            <a:spAutoFit/>
          </a:bodyPr>
          <a:lstStyle/>
          <a:p>
            <a:endParaRPr lang="zh-CN" altLang="en-US" sz="2400"/>
          </a:p>
        </p:txBody>
      </p:sp>
      <p:sp>
        <p:nvSpPr>
          <p:cNvPr id="13" name="Rectangle 9"/>
          <p:cNvSpPr>
            <a:spLocks noChangeArrowheads="1"/>
          </p:cNvSpPr>
          <p:nvPr/>
        </p:nvSpPr>
        <p:spPr bwMode="auto">
          <a:xfrm>
            <a:off x="0" y="-245427"/>
            <a:ext cx="370840" cy="4908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920" tIns="60960" rIns="121920" bIns="60960" numCol="1" anchor="ctr" anchorCtr="0" compatLnSpc="1">
            <a:spAutoFit/>
          </a:bodyPr>
          <a:lstStyle/>
          <a:p>
            <a:endParaRPr lang="zh-CN" altLang="en-US" sz="2400"/>
          </a:p>
        </p:txBody>
      </p:sp>
      <p:sp>
        <p:nvSpPr>
          <p:cNvPr id="15" name="矩形 14"/>
          <p:cNvSpPr/>
          <p:nvPr/>
        </p:nvSpPr>
        <p:spPr>
          <a:xfrm>
            <a:off x="1419881" y="1445337"/>
            <a:ext cx="8832981" cy="10147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400" b="1" dirty="0" smtClean="0"/>
              <a:t>    根据</a:t>
            </a:r>
            <a:r>
              <a:rPr lang="zh-CN" altLang="en-US" sz="2400" b="1" dirty="0"/>
              <a:t>数据传输方向以及与时间的关系，串行通信可以分为单工、半双工和全双工三种通信</a:t>
            </a:r>
            <a:r>
              <a:rPr lang="zh-CN" altLang="en-US" sz="2400" b="1" dirty="0" smtClean="0"/>
              <a:t>方式。</a:t>
            </a:r>
            <a:endParaRPr lang="en-US" altLang="zh-CN" sz="2400" b="1" dirty="0" smtClean="0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-245427"/>
            <a:ext cx="370840" cy="4908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920" tIns="60960" rIns="121920" bIns="60960" numCol="1" anchor="ctr" anchorCtr="0" compatLnSpc="1">
            <a:spAutoFit/>
          </a:bodyPr>
          <a:lstStyle/>
          <a:p>
            <a:endParaRPr lang="zh-CN" altLang="en-US" sz="2400"/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1803924" y="2660915"/>
          <a:ext cx="8064500" cy="31775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36065"/>
                <a:gridCol w="4661535"/>
                <a:gridCol w="1866900"/>
              </a:tblGrid>
              <a:tr h="57785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b="1" kern="0" dirty="0">
                          <a:effectLst/>
                        </a:rPr>
                        <a:t>通信方式</a:t>
                      </a:r>
                      <a:endParaRPr lang="zh-CN" sz="4800" b="1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b="1" kern="0">
                          <a:effectLst/>
                        </a:rPr>
                        <a:t>描述</a:t>
                      </a:r>
                      <a:endParaRPr lang="zh-CN" sz="4800" b="1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b="1" kern="0" dirty="0">
                          <a:effectLst/>
                        </a:rPr>
                        <a:t>举例</a:t>
                      </a:r>
                      <a:endParaRPr lang="zh-CN" sz="4800" b="1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T="0" marB="0" anchor="ctr"/>
                </a:tc>
              </a:tr>
              <a:tr h="115506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b="1" kern="0">
                          <a:effectLst/>
                        </a:rPr>
                        <a:t>单工</a:t>
                      </a:r>
                      <a:endParaRPr lang="zh-CN" sz="4800" b="1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400" b="1" kern="0" dirty="0">
                          <a:effectLst/>
                        </a:rPr>
                        <a:t>任何时刻都只能单方向通信的工作方式，即一端固定为发送端，另一端固定为接收端</a:t>
                      </a:r>
                      <a:endParaRPr lang="zh-CN" sz="4800" b="1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400" b="1" kern="0" dirty="0">
                          <a:effectLst/>
                        </a:rPr>
                        <a:t>灯塔、广播和电视</a:t>
                      </a:r>
                      <a:endParaRPr lang="zh-CN" sz="4800" b="1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T="0" marB="0" anchor="ctr"/>
                </a:tc>
              </a:tr>
              <a:tr h="86677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b="1" kern="0">
                          <a:effectLst/>
                        </a:rPr>
                        <a:t>半双工</a:t>
                      </a:r>
                      <a:endParaRPr lang="zh-CN" sz="4800" b="1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400" b="1" kern="0">
                          <a:effectLst/>
                        </a:rPr>
                        <a:t>两个设备均可以收发数据，但不能在同一时刻进行</a:t>
                      </a:r>
                      <a:endParaRPr lang="zh-CN" sz="4800" b="1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400" b="1" kern="0">
                          <a:effectLst/>
                        </a:rPr>
                        <a:t>对讲机</a:t>
                      </a:r>
                      <a:endParaRPr lang="zh-CN" sz="4800" b="1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T="0" marB="0" anchor="ctr"/>
                </a:tc>
              </a:tr>
              <a:tr h="57785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b="1" kern="0">
                          <a:effectLst/>
                        </a:rPr>
                        <a:t>全双工</a:t>
                      </a:r>
                      <a:endParaRPr lang="zh-CN" sz="4800" b="1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400" b="1" kern="0">
                          <a:effectLst/>
                        </a:rPr>
                        <a:t>两个设备可以同时收发数据</a:t>
                      </a:r>
                      <a:endParaRPr lang="zh-CN" sz="4800" b="1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400" b="1" kern="0" dirty="0">
                          <a:effectLst/>
                        </a:rPr>
                        <a:t>手机</a:t>
                      </a:r>
                      <a:endParaRPr lang="zh-CN" sz="4800" b="1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T="0" marB="0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3" y="452671"/>
            <a:ext cx="2966848" cy="672075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sz="2400" dirty="0"/>
          </a:p>
        </p:txBody>
      </p:sp>
      <p:sp>
        <p:nvSpPr>
          <p:cNvPr id="4" name="矩形 3"/>
          <p:cNvSpPr/>
          <p:nvPr/>
        </p:nvSpPr>
        <p:spPr>
          <a:xfrm>
            <a:off x="104137" y="509191"/>
            <a:ext cx="2180590" cy="583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1 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通信概述</a:t>
            </a:r>
            <a:endParaRPr lang="zh-CN" altLang="zh-CN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-245427"/>
            <a:ext cx="370840" cy="4908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920" tIns="60960" rIns="121920" bIns="60960" numCol="1" anchor="ctr" anchorCtr="0" compatLnSpc="1">
            <a:spAutoFit/>
          </a:bodyPr>
          <a:lstStyle/>
          <a:p>
            <a:endParaRPr lang="zh-CN" altLang="en-US" sz="2400"/>
          </a:p>
        </p:txBody>
      </p:sp>
      <p:sp>
        <p:nvSpPr>
          <p:cNvPr id="7" name="矩形 6"/>
          <p:cNvSpPr/>
          <p:nvPr/>
        </p:nvSpPr>
        <p:spPr>
          <a:xfrm>
            <a:off x="5039883" y="504599"/>
            <a:ext cx="2208245" cy="553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400" b="1" dirty="0">
                <a:solidFill>
                  <a:srgbClr val="C00000"/>
                </a:solidFill>
              </a:rPr>
              <a:t>通信传输速率</a:t>
            </a:r>
            <a:endParaRPr lang="en-US" altLang="zh-CN" sz="2400" b="1" dirty="0" smtClean="0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0" y="-245427"/>
            <a:ext cx="370840" cy="4908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920" tIns="60960" rIns="121920" bIns="60960" numCol="1" anchor="ctr" anchorCtr="0" compatLnSpc="1">
            <a:spAutoFit/>
          </a:bodyPr>
          <a:lstStyle/>
          <a:p>
            <a:endParaRPr lang="zh-CN" altLang="en-US" sz="2400"/>
          </a:p>
        </p:txBody>
      </p:sp>
      <p:sp>
        <p:nvSpPr>
          <p:cNvPr id="2" name="Rectangle 7"/>
          <p:cNvSpPr>
            <a:spLocks noChangeArrowheads="1"/>
          </p:cNvSpPr>
          <p:nvPr/>
        </p:nvSpPr>
        <p:spPr bwMode="auto">
          <a:xfrm>
            <a:off x="0" y="-245427"/>
            <a:ext cx="370840" cy="4908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920" tIns="60960" rIns="121920" bIns="60960" numCol="1" anchor="ctr" anchorCtr="0" compatLnSpc="1">
            <a:spAutoFit/>
          </a:bodyPr>
          <a:lstStyle/>
          <a:p>
            <a:endParaRPr lang="zh-CN" altLang="en-US" sz="2400"/>
          </a:p>
        </p:txBody>
      </p:sp>
      <p:sp>
        <p:nvSpPr>
          <p:cNvPr id="13" name="Rectangle 9"/>
          <p:cNvSpPr>
            <a:spLocks noChangeArrowheads="1"/>
          </p:cNvSpPr>
          <p:nvPr/>
        </p:nvSpPr>
        <p:spPr bwMode="auto">
          <a:xfrm>
            <a:off x="0" y="-245427"/>
            <a:ext cx="370840" cy="4908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920" tIns="60960" rIns="121920" bIns="60960" numCol="1" anchor="ctr" anchorCtr="0" compatLnSpc="1">
            <a:spAutoFit/>
          </a:bodyPr>
          <a:lstStyle/>
          <a:p>
            <a:endParaRPr lang="zh-CN" altLang="en-US" sz="2400"/>
          </a:p>
        </p:txBody>
      </p:sp>
      <p:sp>
        <p:nvSpPr>
          <p:cNvPr id="15" name="矩形 14"/>
          <p:cNvSpPr/>
          <p:nvPr/>
        </p:nvSpPr>
        <p:spPr>
          <a:xfrm>
            <a:off x="725503" y="1861661"/>
            <a:ext cx="4992555" cy="147637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400" b="1" dirty="0" smtClean="0"/>
              <a:t>     每秒</a:t>
            </a:r>
            <a:r>
              <a:rPr lang="zh-CN" altLang="en-US" sz="2400" b="1" dirty="0"/>
              <a:t>传输的二进制位数，单位为比特每秒（</a:t>
            </a:r>
            <a:r>
              <a:rPr lang="en-US" altLang="zh-CN" sz="2400" b="1" dirty="0"/>
              <a:t>bit/s</a:t>
            </a:r>
            <a:r>
              <a:rPr lang="zh-CN" altLang="en-US" sz="2400" b="1" dirty="0"/>
              <a:t>，</a:t>
            </a:r>
            <a:r>
              <a:rPr lang="en-US" altLang="zh-CN" sz="2400" b="1" dirty="0"/>
              <a:t>bps</a:t>
            </a:r>
            <a:r>
              <a:rPr lang="zh-CN" altLang="en-US" sz="2400" b="1" dirty="0"/>
              <a:t>），是衡量串行数据传输速度快慢的指标</a:t>
            </a:r>
            <a:r>
              <a:rPr lang="zh-CN" altLang="en-US" sz="2400" b="1" dirty="0" smtClean="0"/>
              <a:t>。</a:t>
            </a:r>
            <a:endParaRPr lang="zh-CN" altLang="en-US" sz="2400" b="1" dirty="0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-245427"/>
            <a:ext cx="370840" cy="4908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920" tIns="60960" rIns="121920" bIns="60960" numCol="1" anchor="ctr" anchorCtr="0" compatLnSpc="1">
            <a:spAutoFit/>
          </a:bodyPr>
          <a:lstStyle/>
          <a:p>
            <a:endParaRPr lang="zh-CN" altLang="en-US" sz="2400"/>
          </a:p>
        </p:txBody>
      </p:sp>
      <p:sp>
        <p:nvSpPr>
          <p:cNvPr id="9" name="矩形 8"/>
          <p:cNvSpPr/>
          <p:nvPr/>
        </p:nvSpPr>
        <p:spPr>
          <a:xfrm>
            <a:off x="2633797" y="1361017"/>
            <a:ext cx="1097280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accent6">
                    <a:lumMod val="75000"/>
                  </a:schemeClr>
                </a:solidFill>
              </a:rPr>
              <a:t>波特率</a:t>
            </a:r>
            <a:endParaRPr lang="zh-CN" altLang="en-US" sz="24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6157633" y="1861661"/>
            <a:ext cx="5664629" cy="101473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400" b="1" dirty="0" smtClean="0"/>
              <a:t>每秒</a:t>
            </a:r>
            <a:r>
              <a:rPr lang="zh-CN" altLang="en-US" sz="2400" b="1" dirty="0"/>
              <a:t>所传输的字符</a:t>
            </a:r>
            <a:r>
              <a:rPr lang="zh-CN" altLang="en-US" sz="2400" b="1" dirty="0" smtClean="0"/>
              <a:t>数</a:t>
            </a:r>
            <a:r>
              <a:rPr lang="zh-CN" altLang="en-US" sz="2400" b="1" dirty="0"/>
              <a:t>：</a:t>
            </a:r>
            <a:endParaRPr lang="en-GB" altLang="zh-CN" sz="2400" b="1" dirty="0" smtClean="0"/>
          </a:p>
          <a:p>
            <a:pPr>
              <a:lnSpc>
                <a:spcPct val="125000"/>
              </a:lnSpc>
            </a:pPr>
            <a:r>
              <a:rPr lang="zh-CN" altLang="en-US" sz="2400" b="1" dirty="0" smtClean="0"/>
              <a:t>波特率</a:t>
            </a:r>
            <a:r>
              <a:rPr lang="en-US" altLang="zh-CN" sz="2400" b="1" dirty="0"/>
              <a:t>=</a:t>
            </a:r>
            <a:r>
              <a:rPr lang="zh-CN" altLang="en-US" sz="2400" b="1" dirty="0"/>
              <a:t>字符速率</a:t>
            </a:r>
            <a:r>
              <a:rPr lang="en-US" altLang="zh-CN" sz="2400" b="1" dirty="0"/>
              <a:t>×</a:t>
            </a:r>
            <a:r>
              <a:rPr lang="zh-CN" altLang="en-US" sz="2400" b="1" dirty="0"/>
              <a:t>每个字符包含的</a:t>
            </a:r>
            <a:r>
              <a:rPr lang="zh-CN" altLang="en-US" sz="2400" b="1" dirty="0" smtClean="0"/>
              <a:t>位数</a:t>
            </a:r>
            <a:endParaRPr lang="zh-CN" altLang="en-US" sz="2400" b="1" dirty="0"/>
          </a:p>
        </p:txBody>
      </p:sp>
      <p:sp>
        <p:nvSpPr>
          <p:cNvPr id="16" name="矩形 15"/>
          <p:cNvSpPr/>
          <p:nvPr/>
        </p:nvSpPr>
        <p:spPr>
          <a:xfrm>
            <a:off x="1487488" y="3899376"/>
            <a:ext cx="7012840" cy="193802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400" b="1" dirty="0" smtClean="0"/>
              <a:t>   字符</a:t>
            </a:r>
            <a:r>
              <a:rPr lang="zh-CN" altLang="en-US" sz="2400" b="1" dirty="0"/>
              <a:t>速率为</a:t>
            </a:r>
            <a:r>
              <a:rPr lang="en-US" altLang="zh-CN" sz="2400" b="1" dirty="0"/>
              <a:t>120</a:t>
            </a:r>
            <a:r>
              <a:rPr lang="zh-CN" altLang="en-US" sz="2400" b="1" dirty="0"/>
              <a:t>字符</a:t>
            </a:r>
            <a:r>
              <a:rPr lang="en-US" altLang="zh-CN" sz="2400" b="1" dirty="0"/>
              <a:t>/</a:t>
            </a:r>
            <a:r>
              <a:rPr lang="zh-CN" altLang="en-US" sz="2400" b="1" dirty="0"/>
              <a:t>秒，若每个字符包含</a:t>
            </a:r>
            <a:r>
              <a:rPr lang="en-US" altLang="zh-CN" sz="2400" b="1" dirty="0"/>
              <a:t>10</a:t>
            </a:r>
            <a:r>
              <a:rPr lang="zh-CN" altLang="en-US" sz="2400" b="1" dirty="0"/>
              <a:t>位（</a:t>
            </a:r>
            <a:r>
              <a:rPr lang="en-US" altLang="zh-CN" sz="2400" b="1" dirty="0"/>
              <a:t>1</a:t>
            </a:r>
            <a:r>
              <a:rPr lang="zh-CN" altLang="en-US" sz="2400" b="1" dirty="0"/>
              <a:t>个起始位，</a:t>
            </a:r>
            <a:r>
              <a:rPr lang="en-US" altLang="zh-CN" sz="2400" b="1" dirty="0"/>
              <a:t>7</a:t>
            </a:r>
            <a:r>
              <a:rPr lang="zh-CN" altLang="en-US" sz="2400" b="1" dirty="0"/>
              <a:t>个数据位，</a:t>
            </a:r>
            <a:r>
              <a:rPr lang="en-US" altLang="zh-CN" sz="2400" b="1" dirty="0"/>
              <a:t>1</a:t>
            </a:r>
            <a:r>
              <a:rPr lang="zh-CN" altLang="en-US" sz="2400" b="1" dirty="0"/>
              <a:t>个校验位，</a:t>
            </a:r>
            <a:r>
              <a:rPr lang="en-US" altLang="zh-CN" sz="2400" b="1" dirty="0"/>
              <a:t>1</a:t>
            </a:r>
            <a:r>
              <a:rPr lang="zh-CN" altLang="en-US" sz="2400" b="1" dirty="0"/>
              <a:t>个结束位），则波特率为</a:t>
            </a:r>
            <a:endParaRPr lang="zh-CN" altLang="en-US" sz="2400" b="1" dirty="0"/>
          </a:p>
          <a:p>
            <a:pPr>
              <a:lnSpc>
                <a:spcPct val="125000"/>
              </a:lnSpc>
            </a:pPr>
            <a:r>
              <a:rPr lang="en-US" altLang="zh-CN" sz="2400" b="1" dirty="0"/>
              <a:t>10</a:t>
            </a:r>
            <a:r>
              <a:rPr lang="zh-CN" altLang="en-US" sz="2400" b="1" dirty="0"/>
              <a:t>位</a:t>
            </a:r>
            <a:r>
              <a:rPr lang="en-US" altLang="zh-CN" sz="2400" b="1" dirty="0"/>
              <a:t>/</a:t>
            </a:r>
            <a:r>
              <a:rPr lang="zh-CN" altLang="en-US" sz="2400" b="1" dirty="0"/>
              <a:t>字符</a:t>
            </a:r>
            <a:r>
              <a:rPr lang="en-US" altLang="zh-CN" sz="2400" b="1" dirty="0"/>
              <a:t>×120</a:t>
            </a:r>
            <a:r>
              <a:rPr lang="zh-CN" altLang="en-US" sz="2400" b="1" dirty="0"/>
              <a:t>字符</a:t>
            </a:r>
            <a:r>
              <a:rPr lang="en-US" altLang="zh-CN" sz="2400" b="1" dirty="0"/>
              <a:t>/</a:t>
            </a:r>
            <a:r>
              <a:rPr lang="zh-CN" altLang="en-US" sz="2400" b="1" dirty="0"/>
              <a:t>秒＝</a:t>
            </a:r>
            <a:r>
              <a:rPr lang="en-US" altLang="zh-CN" sz="2400" b="1" dirty="0"/>
              <a:t>1200bps</a:t>
            </a:r>
            <a:r>
              <a:rPr lang="zh-CN" altLang="en-US" sz="2400" b="1" dirty="0"/>
              <a:t>。</a:t>
            </a:r>
            <a:endParaRPr lang="zh-CN" altLang="en-US" sz="2400" b="1" dirty="0"/>
          </a:p>
        </p:txBody>
      </p:sp>
      <p:sp>
        <p:nvSpPr>
          <p:cNvPr id="10" name="矩形 9"/>
          <p:cNvSpPr/>
          <p:nvPr/>
        </p:nvSpPr>
        <p:spPr>
          <a:xfrm>
            <a:off x="8112224" y="1361017"/>
            <a:ext cx="1402080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accent3">
                    <a:lumMod val="75000"/>
                  </a:schemeClr>
                </a:solidFill>
              </a:rPr>
              <a:t>字符速率</a:t>
            </a:r>
            <a:endParaRPr lang="zh-CN" altLang="en-US" sz="24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8774263" y="3899247"/>
            <a:ext cx="3048000" cy="193802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>
            <a:spAutoFit/>
          </a:bodyPr>
          <a:lstStyle/>
          <a:p>
            <a:pPr lvl="0">
              <a:lnSpc>
                <a:spcPct val="125000"/>
              </a:lnSpc>
            </a:pPr>
            <a:r>
              <a:rPr lang="zh-CN" altLang="en-US" sz="2400" b="1" dirty="0" smtClean="0">
                <a:solidFill>
                  <a:prstClr val="black"/>
                </a:solidFill>
              </a:rPr>
              <a:t>    常用</a:t>
            </a:r>
            <a:r>
              <a:rPr lang="zh-CN" altLang="en-US" sz="2400" b="1" dirty="0">
                <a:solidFill>
                  <a:prstClr val="black"/>
                </a:solidFill>
              </a:rPr>
              <a:t>的串口</a:t>
            </a:r>
            <a:r>
              <a:rPr lang="zh-CN" altLang="en-US" sz="2400" b="1" dirty="0" smtClean="0">
                <a:solidFill>
                  <a:prstClr val="black"/>
                </a:solidFill>
              </a:rPr>
              <a:t>传输速率（波特率）有</a:t>
            </a:r>
            <a:r>
              <a:rPr lang="en-US" altLang="zh-CN" sz="2400" b="1" dirty="0">
                <a:solidFill>
                  <a:prstClr val="black"/>
                </a:solidFill>
              </a:rPr>
              <a:t>1200</a:t>
            </a:r>
            <a:r>
              <a:rPr lang="zh-CN" altLang="en-US" sz="2400" b="1" dirty="0">
                <a:solidFill>
                  <a:prstClr val="black"/>
                </a:solidFill>
              </a:rPr>
              <a:t>、</a:t>
            </a:r>
            <a:r>
              <a:rPr lang="en-US" altLang="zh-CN" sz="2400" b="1" dirty="0">
                <a:solidFill>
                  <a:prstClr val="black"/>
                </a:solidFill>
              </a:rPr>
              <a:t>2400</a:t>
            </a:r>
            <a:r>
              <a:rPr lang="zh-CN" altLang="en-US" sz="2400" b="1" dirty="0">
                <a:solidFill>
                  <a:prstClr val="black"/>
                </a:solidFill>
              </a:rPr>
              <a:t>、</a:t>
            </a:r>
            <a:r>
              <a:rPr lang="en-US" altLang="zh-CN" sz="2400" b="1" dirty="0">
                <a:solidFill>
                  <a:prstClr val="black"/>
                </a:solidFill>
              </a:rPr>
              <a:t>4800</a:t>
            </a:r>
            <a:r>
              <a:rPr lang="zh-CN" altLang="en-US" sz="2400" b="1" dirty="0">
                <a:solidFill>
                  <a:prstClr val="black"/>
                </a:solidFill>
              </a:rPr>
              <a:t>、</a:t>
            </a:r>
            <a:r>
              <a:rPr lang="en-US" altLang="zh-CN" sz="2400" b="1" dirty="0">
                <a:solidFill>
                  <a:prstClr val="black"/>
                </a:solidFill>
              </a:rPr>
              <a:t>9600</a:t>
            </a:r>
            <a:r>
              <a:rPr lang="zh-CN" altLang="en-US" sz="2400" b="1" dirty="0">
                <a:solidFill>
                  <a:prstClr val="black"/>
                </a:solidFill>
              </a:rPr>
              <a:t>、</a:t>
            </a:r>
            <a:r>
              <a:rPr lang="en-US" altLang="zh-CN" sz="2400" b="1" dirty="0">
                <a:solidFill>
                  <a:prstClr val="black"/>
                </a:solidFill>
              </a:rPr>
              <a:t>19200</a:t>
            </a:r>
            <a:r>
              <a:rPr lang="zh-CN" altLang="en-US" sz="2400" b="1" dirty="0">
                <a:solidFill>
                  <a:prstClr val="black"/>
                </a:solidFill>
              </a:rPr>
              <a:t>和</a:t>
            </a:r>
            <a:r>
              <a:rPr lang="en-US" altLang="zh-CN" sz="2400" b="1" dirty="0">
                <a:solidFill>
                  <a:prstClr val="black"/>
                </a:solidFill>
              </a:rPr>
              <a:t>115200</a:t>
            </a:r>
            <a:r>
              <a:rPr lang="zh-CN" altLang="en-US" sz="2400" b="1" dirty="0">
                <a:solidFill>
                  <a:prstClr val="black"/>
                </a:solidFill>
              </a:rPr>
              <a:t>等。</a:t>
            </a:r>
            <a:endParaRPr lang="zh-CN" altLang="en-US" sz="2400" b="1" dirty="0">
              <a:solidFill>
                <a:prstClr val="black"/>
              </a:solidFill>
            </a:endParaRPr>
          </a:p>
        </p:txBody>
      </p:sp>
      <p:sp>
        <p:nvSpPr>
          <p:cNvPr id="17" name="圆柱形 16"/>
          <p:cNvSpPr/>
          <p:nvPr/>
        </p:nvSpPr>
        <p:spPr>
          <a:xfrm>
            <a:off x="911424" y="3813043"/>
            <a:ext cx="576064" cy="850063"/>
          </a:xfrm>
          <a:prstGeom prst="can">
            <a:avLst/>
          </a:prstGeom>
          <a:ln w="12700">
            <a:solidFill>
              <a:schemeClr val="accent4">
                <a:lumMod val="75000"/>
              </a:schemeClr>
            </a:solidFill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135" b="1" dirty="0" smtClean="0">
                <a:solidFill>
                  <a:schemeClr val="tx1"/>
                </a:solidFill>
              </a:rPr>
              <a:t>举例</a:t>
            </a:r>
            <a:endParaRPr lang="zh-CN" altLang="en-US" sz="2135" b="1" dirty="0" smtClean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" y="452671"/>
            <a:ext cx="3599721" cy="672075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4" name="矩形 3"/>
          <p:cNvSpPr/>
          <p:nvPr/>
        </p:nvSpPr>
        <p:spPr>
          <a:xfrm>
            <a:off x="47328" y="509191"/>
            <a:ext cx="2993390" cy="583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2 </a:t>
            </a:r>
            <a:r>
              <a:rPr lang="zh-CN" altLang="en-US" sz="3200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异步串行通信</a:t>
            </a:r>
            <a:endParaRPr lang="zh-CN" altLang="zh-CN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9"/>
          <p:cNvSpPr txBox="1"/>
          <p:nvPr/>
        </p:nvSpPr>
        <p:spPr>
          <a:xfrm>
            <a:off x="4847861" y="1807368"/>
            <a:ext cx="2907409" cy="6661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735" b="1" dirty="0" smtClean="0">
                <a:solidFill>
                  <a:schemeClr val="accent5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思源黑体旧字形 ExtraLight" panose="020B0200000000000000" pitchFamily="34" charset="-128"/>
              </a:rPr>
              <a:t>目  录</a:t>
            </a:r>
            <a:endParaRPr lang="zh-CN" altLang="en-US" sz="3735" b="1" dirty="0">
              <a:solidFill>
                <a:schemeClr val="accent5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思源黑体旧字形 ExtraLight" panose="020B0200000000000000" pitchFamily="34" charset="-128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1343584" y="2660915"/>
            <a:ext cx="9410403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4035961" y="3236979"/>
            <a:ext cx="4112260" cy="583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/>
              <a:t>2.1 </a:t>
            </a:r>
            <a:r>
              <a:rPr lang="zh-CN" altLang="en-US" sz="3200" b="1" dirty="0" smtClean="0"/>
              <a:t>异步串行通信协议</a:t>
            </a:r>
            <a:endParaRPr lang="zh-CN" altLang="zh-CN" sz="3200" dirty="0"/>
          </a:p>
        </p:txBody>
      </p:sp>
      <p:sp>
        <p:nvSpPr>
          <p:cNvPr id="9" name="矩形 8"/>
          <p:cNvSpPr/>
          <p:nvPr/>
        </p:nvSpPr>
        <p:spPr>
          <a:xfrm>
            <a:off x="5999989" y="4485117"/>
            <a:ext cx="4112260" cy="583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/>
              <a:t>2.2 </a:t>
            </a:r>
            <a:r>
              <a:rPr lang="zh-CN" altLang="en-US" sz="3200" b="1" dirty="0" smtClean="0"/>
              <a:t>异步串行通信接口</a:t>
            </a:r>
            <a:endParaRPr lang="zh-CN" altLang="zh-CN" sz="3200" dirty="0"/>
          </a:p>
        </p:txBody>
      </p:sp>
      <p:sp>
        <p:nvSpPr>
          <p:cNvPr id="11" name="十字箭头标注 10"/>
          <p:cNvSpPr/>
          <p:nvPr/>
        </p:nvSpPr>
        <p:spPr>
          <a:xfrm>
            <a:off x="3075855" y="3208717"/>
            <a:ext cx="960107" cy="672075"/>
          </a:xfrm>
          <a:prstGeom prst="quadArrowCallou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b="1" dirty="0" smtClean="0"/>
          </a:p>
        </p:txBody>
      </p:sp>
      <p:sp>
        <p:nvSpPr>
          <p:cNvPr id="12" name="十字箭头标注 11"/>
          <p:cNvSpPr/>
          <p:nvPr/>
        </p:nvSpPr>
        <p:spPr>
          <a:xfrm>
            <a:off x="5039883" y="4485117"/>
            <a:ext cx="960107" cy="672075"/>
          </a:xfrm>
          <a:prstGeom prst="quadArrowCallou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623392" y="1508787"/>
            <a:ext cx="5376597" cy="2399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400" b="1" dirty="0" smtClean="0">
                <a:solidFill>
                  <a:srgbClr val="C00000"/>
                </a:solidFill>
              </a:rPr>
              <a:t>     异步串行通信标准的</a:t>
            </a:r>
            <a:r>
              <a:rPr lang="zh-CN" altLang="en-US" sz="2400" b="1" dirty="0" smtClean="0"/>
              <a:t>数据帧由起始位、数据位、校验位、停止位四部分组成。数据</a:t>
            </a:r>
            <a:r>
              <a:rPr lang="zh-CN" altLang="en-US" sz="2400" b="1" dirty="0"/>
              <a:t>传输速率为</a:t>
            </a:r>
            <a:r>
              <a:rPr lang="en-US" altLang="zh-CN" sz="2400" b="1" dirty="0"/>
              <a:t>50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75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100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150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300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600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1200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2400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4800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9600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19200</a:t>
            </a:r>
            <a:r>
              <a:rPr lang="zh-CN" altLang="en-US" sz="2400" b="1" dirty="0"/>
              <a:t>和</a:t>
            </a:r>
            <a:r>
              <a:rPr lang="en-US" altLang="zh-CN" sz="2400" b="1" dirty="0"/>
              <a:t>38400</a:t>
            </a:r>
            <a:r>
              <a:rPr lang="zh-CN" altLang="en-US" sz="2400" b="1" dirty="0"/>
              <a:t>波特。</a:t>
            </a:r>
            <a:endParaRPr lang="zh-CN" altLang="zh-CN" sz="2400" b="1" dirty="0"/>
          </a:p>
        </p:txBody>
      </p:sp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0" y="-245427"/>
            <a:ext cx="370840" cy="4908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920" tIns="60960" rIns="121920" bIns="60960" numCol="1" anchor="ctr" anchorCtr="0" compatLnSpc="1">
            <a:spAutoFit/>
          </a:bodyPr>
          <a:lstStyle/>
          <a:p>
            <a:endParaRPr lang="zh-CN" altLang="en-US" sz="2400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-245427"/>
            <a:ext cx="370840" cy="4908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920" tIns="60960" rIns="121920" bIns="60960" numCol="1" anchor="ctr" anchorCtr="0" compatLnSpc="1">
            <a:spAutoFit/>
          </a:bodyPr>
          <a:lstStyle/>
          <a:p>
            <a:endParaRPr lang="zh-CN" altLang="en-US" sz="2400"/>
          </a:p>
        </p:txBody>
      </p:sp>
      <p:sp>
        <p:nvSpPr>
          <p:cNvPr id="8" name="矩形 7"/>
          <p:cNvSpPr/>
          <p:nvPr/>
        </p:nvSpPr>
        <p:spPr>
          <a:xfrm>
            <a:off x="5231904" y="562456"/>
            <a:ext cx="652872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400" b="1" dirty="0">
                <a:solidFill>
                  <a:schemeClr val="accent5">
                    <a:lumMod val="75000"/>
                  </a:schemeClr>
                </a:solidFill>
              </a:rPr>
              <a:t>通信传输速率和数据帧格式一起称为通信协议。</a:t>
            </a:r>
            <a:endParaRPr lang="zh-CN" altLang="zh-CN" sz="24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0" y="-245427"/>
            <a:ext cx="370840" cy="4908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920" tIns="60960" rIns="121920" bIns="60960" numCol="1" anchor="ctr" anchorCtr="0" compatLnSpc="1">
            <a:spAutoFit/>
          </a:bodyPr>
          <a:lstStyle/>
          <a:p>
            <a:endParaRPr lang="zh-CN" altLang="en-US" sz="2400"/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482867" y="4488580"/>
          <a:ext cx="5856651" cy="18782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575" name="Visio" r:id="rId1" imgW="3515360" imgH="1117600" progId="Visio.Drawing.11">
                  <p:embed/>
                </p:oleObj>
              </mc:Choice>
              <mc:Fallback>
                <p:oleObj name="Visio" r:id="rId1" imgW="3515360" imgH="1117600" progId="Visio.Drawing.11">
                  <p:embed/>
                  <p:pic>
                    <p:nvPicPr>
                      <p:cNvPr id="0" name="图片 6657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2867" y="4488580"/>
                        <a:ext cx="5856651" cy="187822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五边形 12"/>
          <p:cNvSpPr/>
          <p:nvPr/>
        </p:nvSpPr>
        <p:spPr>
          <a:xfrm>
            <a:off x="6384032" y="1412776"/>
            <a:ext cx="5472612" cy="833669"/>
          </a:xfrm>
          <a:prstGeom prst="homePlat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zh-CN" altLang="en-US" sz="2400" b="1" kern="200" dirty="0">
                <a:solidFill>
                  <a:srgbClr val="C00000"/>
                </a:solidFill>
              </a:rPr>
              <a:t>起始位</a:t>
            </a:r>
            <a:r>
              <a:rPr lang="zh-CN" altLang="en-US" sz="2400" b="1" kern="200" dirty="0">
                <a:solidFill>
                  <a:schemeClr val="tx1"/>
                </a:solidFill>
              </a:rPr>
              <a:t>：占一位，位于数据帧的开头，以逻辑“</a:t>
            </a:r>
            <a:r>
              <a:rPr lang="en-US" altLang="zh-CN" sz="2400" b="1" kern="200" dirty="0">
                <a:solidFill>
                  <a:schemeClr val="tx1"/>
                </a:solidFill>
              </a:rPr>
              <a:t>0</a:t>
            </a:r>
            <a:r>
              <a:rPr lang="en-US" altLang="zh-CN" sz="2400" b="1" kern="200" dirty="0">
                <a:solidFill>
                  <a:schemeClr val="tx1"/>
                </a:solidFill>
                <a:latin typeface="+mn-ea"/>
              </a:rPr>
              <a:t>”</a:t>
            </a:r>
            <a:r>
              <a:rPr lang="zh-CN" altLang="en-US" sz="2400" b="1" kern="200" dirty="0">
                <a:solidFill>
                  <a:schemeClr val="tx1"/>
                </a:solidFill>
              </a:rPr>
              <a:t>表示传输数据的开始</a:t>
            </a:r>
            <a:r>
              <a:rPr lang="zh-CN" altLang="en-US" sz="2400" b="1" kern="200" dirty="0" smtClean="0">
                <a:solidFill>
                  <a:schemeClr val="tx1"/>
                </a:solidFill>
              </a:rPr>
              <a:t>。</a:t>
            </a:r>
            <a:endParaRPr lang="zh-CN" altLang="en-US" sz="2400" b="1" kern="200" dirty="0">
              <a:solidFill>
                <a:schemeClr val="tx1"/>
              </a:solidFill>
            </a:endParaRPr>
          </a:p>
        </p:txBody>
      </p:sp>
      <p:sp>
        <p:nvSpPr>
          <p:cNvPr id="15" name="五边形 14"/>
          <p:cNvSpPr/>
          <p:nvPr/>
        </p:nvSpPr>
        <p:spPr>
          <a:xfrm>
            <a:off x="6384032" y="2444891"/>
            <a:ext cx="5472612" cy="833669"/>
          </a:xfrm>
          <a:prstGeom prst="homePlat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zh-CN" altLang="en-US" sz="2400" b="1" kern="200" dirty="0">
                <a:solidFill>
                  <a:srgbClr val="C00000"/>
                </a:solidFill>
              </a:rPr>
              <a:t>数据位</a:t>
            </a:r>
            <a:r>
              <a:rPr lang="zh-CN" altLang="en-US" sz="2400" b="1" kern="200" dirty="0">
                <a:solidFill>
                  <a:schemeClr val="tx1"/>
                </a:solidFill>
              </a:rPr>
              <a:t>：要发送的数据，数据长度可以是</a:t>
            </a:r>
            <a:r>
              <a:rPr lang="en-US" altLang="zh-CN" sz="2400" b="1" kern="200" dirty="0">
                <a:solidFill>
                  <a:schemeClr val="tx1"/>
                </a:solidFill>
              </a:rPr>
              <a:t>5</a:t>
            </a:r>
            <a:r>
              <a:rPr lang="zh-CN" altLang="en-US" sz="2400" b="1" kern="200" dirty="0">
                <a:solidFill>
                  <a:schemeClr val="tx1"/>
                </a:solidFill>
              </a:rPr>
              <a:t>～</a:t>
            </a:r>
            <a:r>
              <a:rPr lang="en-US" altLang="zh-CN" sz="2400" b="1" kern="200" dirty="0">
                <a:solidFill>
                  <a:schemeClr val="tx1"/>
                </a:solidFill>
              </a:rPr>
              <a:t>8</a:t>
            </a:r>
            <a:r>
              <a:rPr lang="zh-CN" altLang="en-US" sz="2400" b="1" kern="200" dirty="0">
                <a:solidFill>
                  <a:schemeClr val="tx1"/>
                </a:solidFill>
              </a:rPr>
              <a:t>位。</a:t>
            </a:r>
            <a:endParaRPr lang="zh-CN" altLang="en-US" sz="2400" b="1" kern="200" dirty="0">
              <a:solidFill>
                <a:schemeClr val="tx1"/>
              </a:solidFill>
            </a:endParaRPr>
          </a:p>
        </p:txBody>
      </p:sp>
      <p:sp>
        <p:nvSpPr>
          <p:cNvPr id="17" name="五边形 16"/>
          <p:cNvSpPr/>
          <p:nvPr/>
        </p:nvSpPr>
        <p:spPr>
          <a:xfrm>
            <a:off x="6384032" y="3477005"/>
            <a:ext cx="5472612" cy="833669"/>
          </a:xfrm>
          <a:prstGeom prst="homePlat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zh-CN" altLang="en-US" sz="2400" b="1" kern="200" dirty="0">
                <a:solidFill>
                  <a:srgbClr val="C00000"/>
                </a:solidFill>
              </a:rPr>
              <a:t>校验位</a:t>
            </a:r>
            <a:r>
              <a:rPr lang="zh-CN" altLang="en-US" sz="2400" b="1" kern="200" dirty="0">
                <a:solidFill>
                  <a:schemeClr val="tx1"/>
                </a:solidFill>
              </a:rPr>
              <a:t>：占一位，用于检测数据是否有效。</a:t>
            </a:r>
            <a:endParaRPr lang="zh-CN" altLang="en-US" sz="2400" b="1" kern="200" dirty="0">
              <a:solidFill>
                <a:schemeClr val="tx1"/>
              </a:solidFill>
            </a:endParaRPr>
          </a:p>
        </p:txBody>
      </p:sp>
      <p:sp>
        <p:nvSpPr>
          <p:cNvPr id="19" name="五边形 18"/>
          <p:cNvSpPr/>
          <p:nvPr/>
        </p:nvSpPr>
        <p:spPr>
          <a:xfrm>
            <a:off x="6384032" y="4509120"/>
            <a:ext cx="5472612" cy="833669"/>
          </a:xfrm>
          <a:prstGeom prst="homePlat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zh-CN" altLang="en-US" sz="2400" b="1" kern="200" dirty="0">
                <a:solidFill>
                  <a:srgbClr val="C00000"/>
                </a:solidFill>
              </a:rPr>
              <a:t>停止位</a:t>
            </a:r>
            <a:r>
              <a:rPr lang="zh-CN" altLang="en-US" sz="2400" b="1" kern="200" dirty="0">
                <a:solidFill>
                  <a:schemeClr val="tx1"/>
                </a:solidFill>
              </a:rPr>
              <a:t>：一帧传送结束的标志，根据实际情况定，可以是</a:t>
            </a:r>
            <a:r>
              <a:rPr lang="en-US" altLang="zh-CN" sz="2400" b="1" kern="200" dirty="0">
                <a:solidFill>
                  <a:schemeClr val="tx1"/>
                </a:solidFill>
              </a:rPr>
              <a:t>1</a:t>
            </a:r>
            <a:r>
              <a:rPr lang="zh-CN" altLang="en-US" sz="2400" b="1" kern="200" dirty="0">
                <a:solidFill>
                  <a:schemeClr val="tx1"/>
                </a:solidFill>
              </a:rPr>
              <a:t>、</a:t>
            </a:r>
            <a:r>
              <a:rPr lang="en-US" altLang="zh-CN" sz="2400" b="1" kern="200" dirty="0">
                <a:solidFill>
                  <a:schemeClr val="tx1"/>
                </a:solidFill>
              </a:rPr>
              <a:t>1.5</a:t>
            </a:r>
            <a:r>
              <a:rPr lang="zh-CN" altLang="en-US" sz="2400" b="1" kern="200" dirty="0">
                <a:solidFill>
                  <a:schemeClr val="tx1"/>
                </a:solidFill>
              </a:rPr>
              <a:t>或</a:t>
            </a:r>
            <a:r>
              <a:rPr lang="en-US" altLang="zh-CN" sz="2400" b="1" kern="200" dirty="0">
                <a:solidFill>
                  <a:schemeClr val="tx1"/>
                </a:solidFill>
              </a:rPr>
              <a:t>2</a:t>
            </a:r>
            <a:r>
              <a:rPr lang="zh-CN" altLang="en-US" sz="2400" b="1" kern="200" dirty="0">
                <a:solidFill>
                  <a:schemeClr val="tx1"/>
                </a:solidFill>
              </a:rPr>
              <a:t>位。</a:t>
            </a:r>
            <a:endParaRPr lang="zh-CN" altLang="en-US" sz="2400" b="1" kern="200" dirty="0">
              <a:solidFill>
                <a:schemeClr val="tx1"/>
              </a:solidFill>
            </a:endParaRPr>
          </a:p>
        </p:txBody>
      </p:sp>
      <p:sp>
        <p:nvSpPr>
          <p:cNvPr id="21" name="五边形 20"/>
          <p:cNvSpPr/>
          <p:nvPr/>
        </p:nvSpPr>
        <p:spPr>
          <a:xfrm>
            <a:off x="6384032" y="5541235"/>
            <a:ext cx="5472612" cy="833669"/>
          </a:xfrm>
          <a:prstGeom prst="homePlat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zh-CN" altLang="en-US" sz="2400" b="1" kern="200" dirty="0">
                <a:solidFill>
                  <a:srgbClr val="C00000"/>
                </a:solidFill>
              </a:rPr>
              <a:t>空闲位</a:t>
            </a:r>
            <a:r>
              <a:rPr lang="zh-CN" altLang="en-US" sz="2400" b="1" kern="200" dirty="0">
                <a:solidFill>
                  <a:schemeClr val="tx1"/>
                </a:solidFill>
              </a:rPr>
              <a:t>：数据传输完毕，用“</a:t>
            </a:r>
            <a:r>
              <a:rPr lang="en-US" altLang="zh-CN" sz="2400" b="1" kern="200" dirty="0">
                <a:solidFill>
                  <a:schemeClr val="tx1"/>
                </a:solidFill>
              </a:rPr>
              <a:t>1</a:t>
            </a:r>
            <a:r>
              <a:rPr lang="en-US" altLang="zh-CN" sz="2400" b="1" kern="200" dirty="0">
                <a:solidFill>
                  <a:schemeClr val="tx1"/>
                </a:solidFill>
                <a:latin typeface="+mn-ea"/>
              </a:rPr>
              <a:t>”</a:t>
            </a:r>
            <a:r>
              <a:rPr lang="zh-CN" altLang="en-US" sz="2400" b="1" kern="200" dirty="0">
                <a:solidFill>
                  <a:schemeClr val="tx1"/>
                </a:solidFill>
              </a:rPr>
              <a:t>表示当前线路上没有数据传输。</a:t>
            </a:r>
            <a:endParaRPr lang="zh-CN" altLang="en-US" sz="2400" b="1" kern="200" dirty="0">
              <a:solidFill>
                <a:schemeClr val="tx1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" y="452671"/>
            <a:ext cx="4751849" cy="672075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18" name="矩形 17"/>
          <p:cNvSpPr/>
          <p:nvPr/>
        </p:nvSpPr>
        <p:spPr>
          <a:xfrm>
            <a:off x="166917" y="452671"/>
            <a:ext cx="4478149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</a:rPr>
              <a:t>2.1 </a:t>
            </a:r>
            <a:r>
              <a:rPr lang="zh-CN" altLang="en-US" sz="3200" b="1" dirty="0" smtClean="0">
                <a:solidFill>
                  <a:schemeClr val="bg1"/>
                </a:solidFill>
              </a:rPr>
              <a:t>异步串行通信协议</a:t>
            </a:r>
            <a:endParaRPr lang="zh-CN" altLang="zh-CN" sz="32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" y="452671"/>
            <a:ext cx="4751849" cy="672075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5" name="矩形 4"/>
          <p:cNvSpPr/>
          <p:nvPr/>
        </p:nvSpPr>
        <p:spPr>
          <a:xfrm>
            <a:off x="166917" y="452671"/>
            <a:ext cx="4478149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</a:rPr>
              <a:t>2.2 </a:t>
            </a:r>
            <a:r>
              <a:rPr lang="zh-CN" altLang="en-US" sz="3200" b="1" dirty="0" smtClean="0">
                <a:solidFill>
                  <a:schemeClr val="bg1"/>
                </a:solidFill>
              </a:rPr>
              <a:t>异步串行通信接口</a:t>
            </a:r>
            <a:endParaRPr lang="zh-CN" altLang="zh-CN" sz="3200" b="1" dirty="0">
              <a:solidFill>
                <a:schemeClr val="bg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1098195" y="1700807"/>
            <a:ext cx="3648405" cy="42462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GB" altLang="zh-CN" sz="2400" b="1" dirty="0" smtClean="0"/>
              <a:t>     </a:t>
            </a:r>
            <a:r>
              <a:rPr lang="en-GB" altLang="zh-CN" sz="2400" b="1" dirty="0"/>
              <a:t>UART</a:t>
            </a:r>
            <a:r>
              <a:rPr lang="zh-CN" altLang="en-GB" sz="2400" b="1" dirty="0"/>
              <a:t>（</a:t>
            </a:r>
            <a:r>
              <a:rPr lang="en-GB" altLang="zh-CN" sz="2400" b="1" dirty="0"/>
              <a:t>Universal Asynchronous Receiver Transmitter</a:t>
            </a:r>
            <a:r>
              <a:rPr lang="zh-CN" altLang="en-GB" sz="2400" b="1" dirty="0"/>
              <a:t>，</a:t>
            </a:r>
            <a:r>
              <a:rPr lang="zh-CN" altLang="en-US" sz="2400" b="1" dirty="0"/>
              <a:t>通用异步收发传输器）是一个全双工通用异步串行收</a:t>
            </a:r>
            <a:r>
              <a:rPr lang="en-US" altLang="zh-CN" sz="2400" b="1" dirty="0"/>
              <a:t>/</a:t>
            </a:r>
            <a:r>
              <a:rPr lang="zh-CN" altLang="en-US" sz="2400" b="1" dirty="0"/>
              <a:t>发模块，主要用于打印程序调试信息、上位机和下位机的通信以及</a:t>
            </a:r>
            <a:r>
              <a:rPr lang="en-GB" altLang="zh-CN" sz="2400" b="1" dirty="0"/>
              <a:t>ISP</a:t>
            </a:r>
            <a:r>
              <a:rPr lang="zh-CN" altLang="en-US" sz="2400" b="1" dirty="0"/>
              <a:t>程序下载等场合。</a:t>
            </a:r>
            <a:endParaRPr lang="zh-CN" altLang="en-US" sz="2400" b="1" dirty="0"/>
          </a:p>
        </p:txBody>
      </p:sp>
      <p:sp>
        <p:nvSpPr>
          <p:cNvPr id="6" name="矩形 5"/>
          <p:cNvSpPr/>
          <p:nvPr/>
        </p:nvSpPr>
        <p:spPr>
          <a:xfrm>
            <a:off x="5506652" y="452671"/>
            <a:ext cx="6096000" cy="286131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400" b="1" dirty="0"/>
              <a:t> </a:t>
            </a:r>
            <a:r>
              <a:rPr lang="en-US" altLang="zh-CN" sz="2400" b="1" dirty="0" smtClean="0"/>
              <a:t>     UART</a:t>
            </a:r>
            <a:r>
              <a:rPr lang="zh-CN" altLang="zh-CN" sz="2400" b="1" dirty="0"/>
              <a:t>至少需要两根数据线用于通信双方进行数据双向同时传输，最简单的</a:t>
            </a:r>
            <a:r>
              <a:rPr lang="en-US" altLang="zh-CN" sz="2400" b="1" dirty="0"/>
              <a:t>UART</a:t>
            </a:r>
            <a:r>
              <a:rPr lang="zh-CN" altLang="zh-CN" sz="2400" b="1" dirty="0"/>
              <a:t>接口由</a:t>
            </a:r>
            <a:r>
              <a:rPr lang="en-US" altLang="zh-CN" sz="2400" b="1" dirty="0" err="1"/>
              <a:t>TxD</a:t>
            </a:r>
            <a:r>
              <a:rPr lang="zh-CN" altLang="zh-CN" sz="2400" b="1" dirty="0"/>
              <a:t>、</a:t>
            </a:r>
            <a:r>
              <a:rPr lang="en-US" altLang="zh-CN" sz="2400" b="1" dirty="0" err="1"/>
              <a:t>RxD</a:t>
            </a:r>
            <a:r>
              <a:rPr lang="zh-CN" altLang="zh-CN" sz="2400" b="1" dirty="0"/>
              <a:t>、</a:t>
            </a:r>
            <a:r>
              <a:rPr lang="en-US" altLang="zh-CN" sz="2400" b="1" dirty="0"/>
              <a:t>GND</a:t>
            </a:r>
            <a:r>
              <a:rPr lang="zh-CN" altLang="zh-CN" sz="2400" b="1" dirty="0"/>
              <a:t>共</a:t>
            </a:r>
            <a:r>
              <a:rPr lang="en-US" altLang="zh-CN" sz="2400" b="1" dirty="0"/>
              <a:t>3</a:t>
            </a:r>
            <a:r>
              <a:rPr lang="zh-CN" altLang="zh-CN" sz="2400" b="1" dirty="0"/>
              <a:t>根线组成。其中，</a:t>
            </a:r>
            <a:r>
              <a:rPr lang="en-US" altLang="zh-CN" sz="2400" b="1" dirty="0" err="1"/>
              <a:t>TxD</a:t>
            </a:r>
            <a:r>
              <a:rPr lang="zh-CN" altLang="zh-CN" sz="2400" b="1" dirty="0"/>
              <a:t>用于发送数据，</a:t>
            </a:r>
            <a:r>
              <a:rPr lang="en-US" altLang="zh-CN" sz="2400" b="1" dirty="0" err="1"/>
              <a:t>RxD</a:t>
            </a:r>
            <a:r>
              <a:rPr lang="zh-CN" altLang="zh-CN" sz="2400" b="1" dirty="0"/>
              <a:t>用于接收数据，</a:t>
            </a:r>
            <a:r>
              <a:rPr lang="en-US" altLang="zh-CN" sz="2400" b="1" dirty="0"/>
              <a:t>GND</a:t>
            </a:r>
            <a:r>
              <a:rPr lang="zh-CN" altLang="zh-CN" sz="2400" b="1" dirty="0"/>
              <a:t>为信号地线，通过交叉连接实现两个芯片间的串口</a:t>
            </a:r>
            <a:r>
              <a:rPr lang="zh-CN" altLang="zh-CN" sz="2400" b="1" dirty="0" smtClean="0"/>
              <a:t>通信</a:t>
            </a:r>
            <a:r>
              <a:rPr lang="zh-CN" altLang="en-US" sz="2400" b="1" dirty="0" smtClean="0"/>
              <a:t>。</a:t>
            </a:r>
            <a:endParaRPr lang="zh-CN" altLang="en-US" sz="2400" b="1" dirty="0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5473700" y="3429000"/>
          <a:ext cx="5875867" cy="27601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52" name="Visio" r:id="rId1" imgW="2519680" imgH="1178560" progId="Visio.Drawing.11">
                  <p:embed/>
                </p:oleObj>
              </mc:Choice>
              <mc:Fallback>
                <p:oleObj name="Visio" r:id="rId1" imgW="2519680" imgH="1178560" progId="Visio.Drawing.11">
                  <p:embed/>
                  <p:pic>
                    <p:nvPicPr>
                      <p:cNvPr id="0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73700" y="3429000"/>
                        <a:ext cx="5875867" cy="276013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" y="452671"/>
            <a:ext cx="4751849" cy="672075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5" name="矩形 4"/>
          <p:cNvSpPr/>
          <p:nvPr/>
        </p:nvSpPr>
        <p:spPr>
          <a:xfrm>
            <a:off x="166917" y="452671"/>
            <a:ext cx="4478149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</a:rPr>
              <a:t>2.2 </a:t>
            </a:r>
            <a:r>
              <a:rPr lang="zh-CN" altLang="en-US" sz="3200" b="1" dirty="0" smtClean="0">
                <a:solidFill>
                  <a:schemeClr val="bg1"/>
                </a:solidFill>
              </a:rPr>
              <a:t>异步串行通信接口</a:t>
            </a:r>
            <a:endParaRPr lang="zh-CN" altLang="zh-CN" sz="3200" b="1" dirty="0">
              <a:solidFill>
                <a:schemeClr val="bg1"/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3550" y="3089275"/>
            <a:ext cx="4530725" cy="162814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8490" y="1951355"/>
            <a:ext cx="1539240" cy="149352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8490" y="5692140"/>
            <a:ext cx="1706880" cy="777240"/>
          </a:xfrm>
          <a:prstGeom prst="rect">
            <a:avLst/>
          </a:prstGeom>
        </p:spPr>
      </p:pic>
      <p:sp>
        <p:nvSpPr>
          <p:cNvPr id="11" name="线形标注 1 10"/>
          <p:cNvSpPr/>
          <p:nvPr/>
        </p:nvSpPr>
        <p:spPr>
          <a:xfrm>
            <a:off x="5698490" y="1951355"/>
            <a:ext cx="1539240" cy="1493520"/>
          </a:xfrm>
          <a:prstGeom prst="borderCallout1">
            <a:avLst>
              <a:gd name="adj1" fmla="val 18750"/>
              <a:gd name="adj2" fmla="val -8333"/>
              <a:gd name="adj3" fmla="val 99835"/>
              <a:gd name="adj4" fmla="val -131064"/>
            </a:avLst>
          </a:prstGeom>
          <a:noFill/>
          <a:ln w="28575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线形标注 1 11"/>
          <p:cNvSpPr/>
          <p:nvPr/>
        </p:nvSpPr>
        <p:spPr>
          <a:xfrm>
            <a:off x="5698490" y="5692140"/>
            <a:ext cx="1706880" cy="777240"/>
          </a:xfrm>
          <a:prstGeom prst="borderCallout1">
            <a:avLst>
              <a:gd name="adj1" fmla="val 18750"/>
              <a:gd name="adj2" fmla="val -8333"/>
              <a:gd name="adj3" fmla="val -157761"/>
              <a:gd name="adj4" fmla="val -61681"/>
            </a:avLst>
          </a:prstGeom>
          <a:noFill/>
          <a:ln w="2857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989320" y="2447290"/>
            <a:ext cx="398145" cy="535940"/>
          </a:xfrm>
          <a:prstGeom prst="rect">
            <a:avLst/>
          </a:prstGeom>
          <a:noFill/>
          <a:ln w="2857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6387465" y="5612765"/>
            <a:ext cx="398145" cy="311785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5" name="直接箭头连接符 14"/>
          <p:cNvCxnSpPr/>
          <p:nvPr/>
        </p:nvCxnSpPr>
        <p:spPr>
          <a:xfrm flipH="1">
            <a:off x="4866640" y="2845435"/>
            <a:ext cx="1086485" cy="1094105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>
            <a:endCxn id="12" idx="3"/>
          </p:cNvCxnSpPr>
          <p:nvPr/>
        </p:nvCxnSpPr>
        <p:spPr>
          <a:xfrm>
            <a:off x="4924425" y="4004945"/>
            <a:ext cx="1627505" cy="1687195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>
            <a:endCxn id="14" idx="0"/>
          </p:cNvCxnSpPr>
          <p:nvPr/>
        </p:nvCxnSpPr>
        <p:spPr>
          <a:xfrm>
            <a:off x="6184900" y="2867025"/>
            <a:ext cx="401955" cy="274574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8" name="矩形 17"/>
          <p:cNvSpPr/>
          <p:nvPr/>
        </p:nvSpPr>
        <p:spPr>
          <a:xfrm>
            <a:off x="7941945" y="1692910"/>
            <a:ext cx="3648710" cy="4231640"/>
          </a:xfrm>
          <a:prstGeom prst="rect">
            <a:avLst/>
          </a:prstGeom>
        </p:spPr>
        <p:txBody>
          <a:bodyPr wrap="square">
            <a:noAutofit/>
          </a:bodyPr>
          <a:p>
            <a:pPr>
              <a:lnSpc>
                <a:spcPct val="125000"/>
              </a:lnSpc>
            </a:pPr>
            <a:r>
              <a:rPr lang="en-GB" altLang="zh-CN" sz="2400" b="1" dirty="0" smtClean="0"/>
              <a:t>     </a:t>
            </a:r>
            <a:r>
              <a:rPr lang="en-US" altLang="en-GB" sz="2400" b="1" dirty="0" smtClean="0"/>
              <a:t>USB</a:t>
            </a:r>
            <a:r>
              <a:rPr lang="zh-CN" altLang="en-US" sz="2400" b="1" dirty="0" smtClean="0"/>
              <a:t>转</a:t>
            </a:r>
            <a:r>
              <a:rPr lang="en-US" altLang="zh-CN" sz="2400" b="1" dirty="0" smtClean="0"/>
              <a:t>TTL</a:t>
            </a:r>
            <a:r>
              <a:rPr lang="zh-CN" altLang="en-GB" sz="2400" b="1" dirty="0" smtClean="0"/>
              <a:t>模块上有定位缺口，根据定位缺口，就能知道：</a:t>
            </a:r>
            <a:endParaRPr lang="zh-CN" altLang="en-GB" sz="2400" b="1" dirty="0" smtClean="0"/>
          </a:p>
          <a:p>
            <a:pPr>
              <a:lnSpc>
                <a:spcPct val="125000"/>
              </a:lnSpc>
            </a:pPr>
            <a:endParaRPr lang="zh-CN" altLang="en-GB" sz="2400" b="1" dirty="0" smtClean="0"/>
          </a:p>
          <a:p>
            <a:pPr>
              <a:lnSpc>
                <a:spcPct val="125000"/>
              </a:lnSpc>
            </a:pPr>
            <a:r>
              <a:rPr lang="en-US" altLang="zh-CN" sz="2400" b="1" dirty="0" smtClean="0"/>
              <a:t>RXD</a:t>
            </a:r>
            <a:r>
              <a:rPr lang="zh-CN" altLang="en-US" sz="2400" b="1" dirty="0" smtClean="0"/>
              <a:t>是缺口向上时，第一排插针的右数第</a:t>
            </a:r>
            <a:r>
              <a:rPr lang="en-US" altLang="zh-CN" sz="2400" b="1" dirty="0" smtClean="0"/>
              <a:t>2</a:t>
            </a:r>
            <a:r>
              <a:rPr lang="zh-CN" altLang="en-US" sz="2400" b="1" dirty="0" smtClean="0"/>
              <a:t>个插针</a:t>
            </a:r>
            <a:endParaRPr lang="zh-CN" altLang="en-US" sz="2400" b="1" dirty="0" smtClean="0"/>
          </a:p>
          <a:p>
            <a:pPr>
              <a:lnSpc>
                <a:spcPct val="125000"/>
              </a:lnSpc>
            </a:pPr>
            <a:endParaRPr lang="zh-CN" altLang="en-US" sz="2400" b="1" dirty="0" smtClean="0"/>
          </a:p>
          <a:p>
            <a:pPr>
              <a:lnSpc>
                <a:spcPct val="125000"/>
              </a:lnSpc>
            </a:pPr>
            <a:r>
              <a:rPr lang="en-US" altLang="zh-CN" sz="2400" b="1" dirty="0" smtClean="0">
                <a:sym typeface="+mn-ea"/>
              </a:rPr>
              <a:t>TXD</a:t>
            </a:r>
            <a:r>
              <a:rPr lang="zh-CN" altLang="en-US" sz="2400" b="1" dirty="0" smtClean="0">
                <a:sym typeface="+mn-ea"/>
              </a:rPr>
              <a:t>是缺口向上时，第一排插针的右数第</a:t>
            </a:r>
            <a:r>
              <a:rPr lang="en-US" altLang="zh-CN" sz="2400" b="1" dirty="0" smtClean="0">
                <a:sym typeface="+mn-ea"/>
              </a:rPr>
              <a:t>3</a:t>
            </a:r>
            <a:r>
              <a:rPr lang="zh-CN" altLang="en-US" sz="2400" b="1" dirty="0" smtClean="0">
                <a:sym typeface="+mn-ea"/>
              </a:rPr>
              <a:t>个插针</a:t>
            </a:r>
            <a:endParaRPr lang="zh-CN" altLang="en-US" sz="2400" b="1" dirty="0" smtClean="0"/>
          </a:p>
          <a:p>
            <a:pPr>
              <a:lnSpc>
                <a:spcPct val="125000"/>
              </a:lnSpc>
            </a:pPr>
            <a:endParaRPr lang="zh-CN" altLang="en-US" sz="2400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1706</Words>
  <Application>WPS 演示</Application>
  <PresentationFormat>宽屏</PresentationFormat>
  <Paragraphs>129</Paragraphs>
  <Slides>11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5</vt:i4>
      </vt:variant>
      <vt:variant>
        <vt:lpstr>幻灯片标题</vt:lpstr>
      </vt:variant>
      <vt:variant>
        <vt:i4>11</vt:i4>
      </vt:variant>
    </vt:vector>
  </HeadingPairs>
  <TitlesOfParts>
    <vt:vector size="28" baseType="lpstr">
      <vt:lpstr>Arial</vt:lpstr>
      <vt:lpstr>宋体</vt:lpstr>
      <vt:lpstr>Wingdings</vt:lpstr>
      <vt:lpstr>Wingdings</vt:lpstr>
      <vt:lpstr>华文隶书</vt:lpstr>
      <vt:lpstr>微软雅黑</vt:lpstr>
      <vt:lpstr>黑体</vt:lpstr>
      <vt:lpstr>Calibri</vt:lpstr>
      <vt:lpstr>Times New Roman</vt:lpstr>
      <vt:lpstr>思源黑体旧字形 ExtraLight</vt:lpstr>
      <vt:lpstr>Arial Unicode MS</vt:lpstr>
      <vt:lpstr>WPS</vt:lpstr>
      <vt:lpstr>Visio.Drawing.11</vt:lpstr>
      <vt:lpstr>Visio.Drawing.11</vt:lpstr>
      <vt:lpstr>Visio.Drawing.11</vt:lpstr>
      <vt:lpstr>Visio.Drawing.11</vt:lpstr>
      <vt:lpstr>Visio.Drawing.11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梁庆中</cp:lastModifiedBy>
  <cp:revision>156</cp:revision>
  <dcterms:created xsi:type="dcterms:W3CDTF">2019-06-19T02:08:00Z</dcterms:created>
  <dcterms:modified xsi:type="dcterms:W3CDTF">2025-01-02T04:28:59Z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2052-12.1.0.19302</vt:lpwstr>
  </property>
  <property fmtid="{D5CDD505-2E9C-101B-9397-08002B2CF9AE}" pid="3" name="ICV">
    <vt:lpwstr>5A2A1D35EDBE482A878E686ADF36CD86_11</vt:lpwstr>
  </property>
</Properties>
</file>